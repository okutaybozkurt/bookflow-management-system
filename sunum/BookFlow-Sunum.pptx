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ben Orhan Kutay Bozkurt. Web Tabanlı Teknolojiler dersi dönem sonu projem olan BookFlow'u tanıtacağım: bir kitap satış ve stok yönetim platformu. Frontend'i React, backend'i PHP/Laravel REST API, veritabanını MySQL olarak geliştirdim. Arayüzdeki marka adı KitapÜssü, proje adı BookFlow.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küçük bir kitapçıda stok, sipariş ve müşteri bilgisi genellikle dağınık tutulur. Çözüm olarak BookFlow'u geliştirdim. Proje basit bir CRUD uygulaması değil: rol bazlı yetki, stok kontrollü sipariş akışı, satış raporları ve işlem kayıtları içeriyor. Sağdaki sayılar gerçek: 2 rol, 9 tablo, 47 API ucu ve 46 otomatik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rol var. Müşteri kitapları arar, favorilere ekler, sipariş verir ve yorum yazar. Yönetici kitap, kategori, yazar ve kullanıcıları yönetir, siparişlerin durumunu günceller, raporları ve işlem kayıtlarını izler. Yönetici işlemleri backend tarafında rol kontrolüyle korunuyor.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React ve Next.js; Next.js'in kendi sunucu tarafını kullanmıyorum, yalnızca istemci olarak çalışıyor. Backend PHP ve Laravel ile yazılmış bir REST API; kimlik doğrulama için Laravel Sanctum kullanıyorum. Veritabanı MySQL; tabloları migration dosyalarıyla oluşturuyorum. Frontend ve backend ayrı klasörlerde ve ayrı portlarda çalışıyor.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Tarayıcıdaki React uygulaması veritabanına doğrudan ulaşmaz; yalnızca HTTP üzerinden JSON alışverişi yaparak Laravel API ile konuşur. Veritabanına yalnızca backend erişir. Backend'de controller ince tutuluyor; doğrulama Form Request'te, iş kuralları Service katmanında, yetki kontrolü middleware ve policy'lerde. Bu ayrım SOLID prensiplerine uyum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SLAYTA ER DİYAGRAMI EKRAN GÖRÜNTÜSÜNÜ EKLEYİN: MySQL Workbench'te Database &gt; Reverse Engineer ile bookflow şemasını çıkarıp diyagramın ekran görüntüsünü alın. PowerPoint'te kesikli çizgili kutuyu silin, Ekle &gt; Resim ile görüntüyü aynı alana yerleştirin. Anlatım: 9 tablomuz var. Kullanıcılar, kitaplar, yazarlar ve kategoriler ana varlıklar; siparişler sipariş kalemleriyle bire-çok ilişkili; favoriler ve yorumlar kullanıcı ile kitap arasındaki ilişkileri tutar; işlem kayıtları yönetim panelinde kimin ne yaptığını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Tasarımda dört önemli karar var. Soft delete: silinen kitap listeden kalkar ama sipariş geçmişi bozulmaz. Sipariş kaleminde fiyatı kopyalıyoruz, çünkü kitap fiyatı değişse bile eski siparişin tutarı değişmemeli. Yabancı anahtar kısıtlarıyla kitabı olan kategori silinemiyor. Şifreleri bcrypt, token'ları hash olarak saklıyoruz; veritabanı sızsa bile doğrudan kullanılamaz.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REST'te her şey bir kaynaktır ve adresi vardır; ne yapılacağını HTTP metodu söyler. GET okur, POST ekler, PUT günceller, PATCH kısmi günceller, DELETE siler. Sonucu durum kodu bildirir: başarıda 200, 201, 204; hatada 401 kimlik yok, 403 yetki yok, 404 kayıt yok, 409 iş kuralı ihlali örneğin yetersiz stok, 422 geçersiz veri. Hatalar her zaman aynı biçimde, Türkçe ve anlamlı bir mesajla dönüyor.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Giriş yapıldığında backend gerçekten veritabanına gidip kullanıcıyı arıyor. Şifre düz metin değil bcrypt hash olarak saklandığı için hash ile karşılaştırılıyor. Kullanıcı yoksa da şifre yanlışsa da aynı 401 mesajı dönüyor; böylece hangi e-postaların kayıtlı olduğu öğrenilemiyor. Doğruysa Sanctum bir token üretiyor; veritabanına yalnızca token'ın hash'i yazılıyor. Frontend bu token'ı her isteğe Authorization başlığıyla ekliyor. 401 ve 403 farklı: 401 kim olduğunu kanıtlayamadın, 403 kimsin biliyorum ama yetkin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iş kurallarının backend'de olduğunu gösteriyor. Sipariş isteğinde fiyat yok; frontend yalnızca hangi kitaptan kaç adet istediğini söylüyor. Toplam tutarı backend veritabanındaki fiyattan hesaplıyor, böylece biri isteği değiştirip 1000 liralık siparişi 1 liraya veremez. Sipariş tek transaction'da çalışıyor ve kitap satırları kilitleniyor; aynı anda iki sipariş gelirse stok tutarlı kalıyor. Yetersiz stokta 409 dönüyor ve hiçbir şey kaydedilmiyor. Sağdaki durum akışını enum içindeki kurallarla zorluyoruz.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Vitrindeki kitaplar, kategoriler ve yıldız puanları doğrudan API'den geliyor. Kitap detayında yorum ekleyip güncelleyebilir veya silebilirsiniz; her işlem veritabanına yazılıyor. Sepette teslimat adresi alıyoruz; ödeme altyapısı kapsam dışı, ödeme teslimatta yapılır. Siparişi tamamlayınca sipariş müşteri kimliği ve bekliyor durumuyla kaydediliyor.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ve raporlar gerçek sipariş verisinden hesaplanıyor; iptal edilen siparişler gelire dahil edilmiyor. Sipariş ekranında yalnızca geçerli durum geçişleri sunuluyor; iptalde stok geri ekleniyor.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Kategori ve yazar sayfasındaki her düğme API'ye bağlı. İşlem kayıtları sayfası activity_logs tablosunu gösteriyor: kim, ne zaman, hangi kaydı değiştirdi. Kitap yönetimi, kullanıcı yönetimi ve satış raporları sayfaları da aynı şekilde gerçek API uçlarına bağlı; canlı gösterimde açabilirim.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Projeyi iki katmanda test ettim. Backend'de 46 otomatik test var; bunlar kimlik doğrulama, yetki, sipariş ve stok kuralları, soft delete ve raporları kapsıyor. Ayrıca gerçek MySQL üzerinde çalışan tarayıcı testiyle 38 senaryoyu baştan sona denedim: giriş, sipariş, stok düşümü, iptalde iade, yönetici işlemleri ve hata mesajları.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Ödev dokümanındaki şartların her birini tek tek karşıladım. Özellikle vurgulamak istediğim nokta: ekranı olup arkasında gerçek işlem bulunmayan hiçbir özellik bırakmadım; sahte veriyle çalışan ekranları ve işlevsiz butonları kaldırdım. Her buton gerçek bir API isteği gönderiyor ve sonuç veritabanına yazılıyor.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Dinlediğiniz için teşekkür ederim. Sorularınızı alabilirim; isterseniz uygulamayı canlı olarak da gösterebilirim.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4"/>
        </a:solidFill>
      </p:bgPr>
    </p:bg>
    <p:spTree>
      <p:nvGrpSpPr>
        <p:cNvPr id="1" name=""/>
        <p:cNvGrpSpPr/>
        <p:nvPr/>
      </p:nvGrpSpPr>
      <p:grpSpPr>
        <a:xfrm>
          <a:off x="0" y="0"/>
          <a:ext cx="0" cy="0"/>
          <a:chOff x="0" y="0"/>
          <a:chExt cx="0" cy="0"/>
        </a:xfrm>
      </p:grpSpPr>
      <p:sp>
        <p:nvSpPr>
          <p:cNvPr id="2" name="Text 0"/>
          <p:cNvSpPr txBox="1"/>
          <p:nvPr/>
        </p:nvSpPr>
        <p:spPr>
          <a:xfrm>
            <a:off x="640080" y="1005840"/>
            <a:ext cx="54864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Book</a:t>
            </a:r>
            <a:pPr indent="0" marL="0">
              <a:buNone/>
            </a:pPr>
            <a:r>
              <a:rPr lang="en-US" sz="6000" b="1" dirty="0">
                <a:solidFill>
                  <a:srgbClr val="F26A00"/>
                </a:solidFill>
                <a:latin typeface="Cambria" pitchFamily="34" charset="0"/>
                <a:ea typeface="Cambria" pitchFamily="34" charset="-122"/>
                <a:cs typeface="Cambria" pitchFamily="34" charset="-120"/>
              </a:rPr>
              <a:t>Flow</a:t>
            </a:r>
            <a:endParaRPr lang="en-US" sz="6000" dirty="0"/>
          </a:p>
        </p:txBody>
      </p:sp>
      <p:sp>
        <p:nvSpPr>
          <p:cNvPr id="3" name="Text 1"/>
          <p:cNvSpPr txBox="1"/>
          <p:nvPr/>
        </p:nvSpPr>
        <p:spPr>
          <a:xfrm>
            <a:off x="640080" y="1965960"/>
            <a:ext cx="54864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Kitap Satış ve Stok Yönetim Platformu</a:t>
            </a:r>
            <a:endParaRPr lang="en-US" sz="2200" dirty="0"/>
          </a:p>
        </p:txBody>
      </p:sp>
      <p:sp>
        <p:nvSpPr>
          <p:cNvPr id="4" name="Text 2"/>
          <p:cNvSpPr txBox="1"/>
          <p:nvPr/>
        </p:nvSpPr>
        <p:spPr>
          <a:xfrm>
            <a:off x="640080" y="2514600"/>
            <a:ext cx="5486400" cy="32004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Web Tabanlı Teknolojiler · Dönem Sonu Projesi</a:t>
            </a:r>
            <a:endParaRPr lang="en-US" sz="1400" dirty="0"/>
          </a:p>
        </p:txBody>
      </p:sp>
      <p:sp>
        <p:nvSpPr>
          <p:cNvPr id="5" name="Text 3"/>
          <p:cNvSpPr txBox="1"/>
          <p:nvPr/>
        </p:nvSpPr>
        <p:spPr>
          <a:xfrm>
            <a:off x="640080" y="402336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Orhan Kutay Bozkurt</a:t>
            </a:r>
            <a:endParaRPr lang="en-US" sz="1600" dirty="0"/>
          </a:p>
        </p:txBody>
      </p:sp>
      <p:sp>
        <p:nvSpPr>
          <p:cNvPr id="6" name="Shape 4"/>
          <p:cNvSpPr/>
          <p:nvPr/>
        </p:nvSpPr>
        <p:spPr>
          <a:xfrm>
            <a:off x="6309360" y="1005840"/>
            <a:ext cx="2286000" cy="868680"/>
          </a:xfrm>
          <a:prstGeom prst="roundRect">
            <a:avLst>
              <a:gd name="adj" fmla="val 14737"/>
            </a:avLst>
          </a:prstGeom>
          <a:solidFill>
            <a:srgbClr val="1C1C21"/>
          </a:solidFill>
          <a:ln w="15875">
            <a:solidFill>
              <a:srgbClr val="F26A00"/>
            </a:solidFill>
            <a:prstDash val="solid"/>
          </a:ln>
        </p:spPr>
      </p:sp>
      <p:pic>
        <p:nvPicPr>
          <p:cNvPr id="7" name="Image 0" descr="preencoded.png">    </p:cNvPr>
          <p:cNvPicPr>
            <a:picLocks noChangeAspect="1"/>
          </p:cNvPicPr>
          <p:nvPr/>
        </p:nvPicPr>
        <p:blipFill>
          <a:blip r:embed="rId1"/>
          <a:stretch>
            <a:fillRect/>
          </a:stretch>
        </p:blipFill>
        <p:spPr>
          <a:xfrm>
            <a:off x="6492240" y="1225296"/>
            <a:ext cx="429768" cy="429768"/>
          </a:xfrm>
          <a:prstGeom prst="rect">
            <a:avLst/>
          </a:prstGeom>
        </p:spPr>
      </p:pic>
      <p:sp>
        <p:nvSpPr>
          <p:cNvPr id="8" name="Text 5"/>
          <p:cNvSpPr txBox="1"/>
          <p:nvPr/>
        </p:nvSpPr>
        <p:spPr>
          <a:xfrm>
            <a:off x="7086600" y="1133856"/>
            <a:ext cx="14630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React</a:t>
            </a:r>
            <a:endParaRPr lang="en-US" sz="1700" dirty="0"/>
          </a:p>
          <a:p>
            <a:pPr indent="0" marL="0">
              <a:buNone/>
            </a:pPr>
            <a:r>
              <a:rPr lang="en-US" sz="1100" dirty="0">
                <a:solidFill>
                  <a:srgbClr val="9CA3AF"/>
                </a:solidFill>
                <a:latin typeface="Calibri" pitchFamily="34" charset="0"/>
                <a:ea typeface="Calibri" pitchFamily="34" charset="-122"/>
                <a:cs typeface="Calibri" pitchFamily="34" charset="-120"/>
              </a:rPr>
              <a:t>Frontend</a:t>
            </a:r>
            <a:endParaRPr lang="en-US" sz="1700" dirty="0"/>
          </a:p>
        </p:txBody>
      </p:sp>
      <p:sp>
        <p:nvSpPr>
          <p:cNvPr id="9" name="Shape 6"/>
          <p:cNvSpPr/>
          <p:nvPr/>
        </p:nvSpPr>
        <p:spPr>
          <a:xfrm>
            <a:off x="6309360" y="2103120"/>
            <a:ext cx="2286000" cy="868680"/>
          </a:xfrm>
          <a:prstGeom prst="roundRect">
            <a:avLst>
              <a:gd name="adj" fmla="val 14737"/>
            </a:avLst>
          </a:prstGeom>
          <a:solidFill>
            <a:srgbClr val="1C1C21"/>
          </a:solidFill>
          <a:ln w="15875">
            <a:solidFill>
              <a:srgbClr val="F26A00"/>
            </a:solidFill>
            <a:prstDash val="solid"/>
          </a:ln>
        </p:spPr>
      </p:sp>
      <p:pic>
        <p:nvPicPr>
          <p:cNvPr id="10" name="Image 1" descr="preencoded.png">    </p:cNvPr>
          <p:cNvPicPr>
            <a:picLocks noChangeAspect="1"/>
          </p:cNvPicPr>
          <p:nvPr/>
        </p:nvPicPr>
        <p:blipFill>
          <a:blip r:embed="rId2"/>
          <a:stretch>
            <a:fillRect/>
          </a:stretch>
        </p:blipFill>
        <p:spPr>
          <a:xfrm>
            <a:off x="6492240" y="2322576"/>
            <a:ext cx="429768" cy="429768"/>
          </a:xfrm>
          <a:prstGeom prst="rect">
            <a:avLst/>
          </a:prstGeom>
        </p:spPr>
      </p:pic>
      <p:sp>
        <p:nvSpPr>
          <p:cNvPr id="11" name="Text 7"/>
          <p:cNvSpPr txBox="1"/>
          <p:nvPr/>
        </p:nvSpPr>
        <p:spPr>
          <a:xfrm>
            <a:off x="7086600" y="2231136"/>
            <a:ext cx="14630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Laravel</a:t>
            </a:r>
            <a:endParaRPr lang="en-US" sz="1700" dirty="0"/>
          </a:p>
          <a:p>
            <a:pPr indent="0" marL="0">
              <a:buNone/>
            </a:pPr>
            <a:r>
              <a:rPr lang="en-US" sz="1100" dirty="0">
                <a:solidFill>
                  <a:srgbClr val="9CA3AF"/>
                </a:solidFill>
                <a:latin typeface="Calibri" pitchFamily="34" charset="0"/>
                <a:ea typeface="Calibri" pitchFamily="34" charset="-122"/>
                <a:cs typeface="Calibri" pitchFamily="34" charset="-120"/>
              </a:rPr>
              <a:t>REST API</a:t>
            </a:r>
            <a:endParaRPr lang="en-US" sz="1700" dirty="0"/>
          </a:p>
        </p:txBody>
      </p:sp>
      <p:sp>
        <p:nvSpPr>
          <p:cNvPr id="12" name="Shape 8"/>
          <p:cNvSpPr/>
          <p:nvPr/>
        </p:nvSpPr>
        <p:spPr>
          <a:xfrm>
            <a:off x="6309360" y="3200400"/>
            <a:ext cx="2286000" cy="868680"/>
          </a:xfrm>
          <a:prstGeom prst="roundRect">
            <a:avLst>
              <a:gd name="adj" fmla="val 14737"/>
            </a:avLst>
          </a:prstGeom>
          <a:solidFill>
            <a:srgbClr val="1C1C21"/>
          </a:solidFill>
          <a:ln w="15875">
            <a:solidFill>
              <a:srgbClr val="F26A00"/>
            </a:solidFill>
            <a:prstDash val="solid"/>
          </a:ln>
        </p:spPr>
      </p:sp>
      <p:pic>
        <p:nvPicPr>
          <p:cNvPr id="13" name="Image 2" descr="preencoded.png">    </p:cNvPr>
          <p:cNvPicPr>
            <a:picLocks noChangeAspect="1"/>
          </p:cNvPicPr>
          <p:nvPr/>
        </p:nvPicPr>
        <p:blipFill>
          <a:blip r:embed="rId3"/>
          <a:stretch>
            <a:fillRect/>
          </a:stretch>
        </p:blipFill>
        <p:spPr>
          <a:xfrm>
            <a:off x="6492240" y="3419856"/>
            <a:ext cx="429768" cy="429768"/>
          </a:xfrm>
          <a:prstGeom prst="rect">
            <a:avLst/>
          </a:prstGeom>
        </p:spPr>
      </p:pic>
      <p:sp>
        <p:nvSpPr>
          <p:cNvPr id="14" name="Text 9"/>
          <p:cNvSpPr txBox="1"/>
          <p:nvPr/>
        </p:nvSpPr>
        <p:spPr>
          <a:xfrm>
            <a:off x="7086600" y="3328416"/>
            <a:ext cx="146304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MySQL</a:t>
            </a:r>
            <a:endParaRPr lang="en-US" sz="1700" dirty="0"/>
          </a:p>
          <a:p>
            <a:pPr indent="0" marL="0">
              <a:buNone/>
            </a:pPr>
            <a:r>
              <a:rPr lang="en-US" sz="1100" dirty="0">
                <a:solidFill>
                  <a:srgbClr val="9CA3AF"/>
                </a:solidFill>
                <a:latin typeface="Calibri" pitchFamily="34" charset="0"/>
                <a:ea typeface="Calibri" pitchFamily="34" charset="-122"/>
                <a:cs typeface="Calibri" pitchFamily="34" charset="-120"/>
              </a:rPr>
              <a:t>Veritabanı</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Proje Konusu</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Çevrimiçi kitap satışı ve stok yönetimi</a:t>
            </a:r>
            <a:endParaRPr lang="en-US" sz="1300" dirty="0"/>
          </a:p>
        </p:txBody>
      </p:sp>
      <p:sp>
        <p:nvSpPr>
          <p:cNvPr id="4" name="Shape 2"/>
          <p:cNvSpPr/>
          <p:nvPr/>
        </p:nvSpPr>
        <p:spPr>
          <a:xfrm>
            <a:off x="548640" y="1371600"/>
            <a:ext cx="4206240" cy="1417320"/>
          </a:xfrm>
          <a:prstGeom prst="roundRect">
            <a:avLst>
              <a:gd name="adj" fmla="val 7742"/>
            </a:avLst>
          </a:prstGeom>
          <a:solidFill>
            <a:srgbClr val="F4F4F5"/>
          </a:solidFill>
          <a:ln w="12700">
            <a:solidFill>
              <a:srgbClr val="F4F4F5"/>
            </a:solidFill>
            <a:prstDash val="solid"/>
          </a:ln>
        </p:spPr>
      </p:sp>
      <p:sp>
        <p:nvSpPr>
          <p:cNvPr id="5" name="Text 3"/>
          <p:cNvSpPr txBox="1"/>
          <p:nvPr/>
        </p:nvSpPr>
        <p:spPr>
          <a:xfrm>
            <a:off x="731520" y="1463040"/>
            <a:ext cx="3840480" cy="1234440"/>
          </a:xfrm>
          <a:prstGeom prst="rect">
            <a:avLst/>
          </a:prstGeom>
          <a:noFill/>
          <a:ln/>
        </p:spPr>
        <p:txBody>
          <a:bodyPr wrap="square" lIns="0" tIns="0" rIns="0" bIns="0" rtlCol="0" anchor="t"/>
          <a:lstStyle/>
          <a:p>
            <a:pPr indent="0" marL="0">
              <a:buNone/>
            </a:pPr>
            <a:r>
              <a:rPr lang="en-US" sz="1500" b="1" dirty="0">
                <a:solidFill>
                  <a:srgbClr val="F26A00"/>
                </a:solidFill>
                <a:latin typeface="Calibri" pitchFamily="34" charset="0"/>
                <a:ea typeface="Calibri" pitchFamily="34" charset="-122"/>
                <a:cs typeface="Calibri" pitchFamily="34" charset="-120"/>
              </a:rPr>
              <a:t>Problem</a:t>
            </a:r>
            <a:endParaRPr lang="en-US" sz="1500" dirty="0"/>
          </a:p>
          <a:p>
            <a:pPr indent="0" marL="0">
              <a:buNone/>
            </a:pPr>
            <a:r>
              <a:rPr lang="en-US" sz="1300" dirty="0">
                <a:solidFill>
                  <a:srgbClr val="1F2937"/>
                </a:solidFill>
                <a:latin typeface="Calibri" pitchFamily="34" charset="0"/>
                <a:ea typeface="Calibri" pitchFamily="34" charset="-122"/>
                <a:cs typeface="Calibri" pitchFamily="34" charset="-120"/>
              </a:rPr>
              <a:t>Kitap satan bir işletmede stok, sipariş ve müşteri bilgisi dağınık tutulur; stok yanlış görünür, sipariş takibi zorlaşır.</a:t>
            </a:r>
            <a:endParaRPr lang="en-US" sz="1500" dirty="0"/>
          </a:p>
        </p:txBody>
      </p:sp>
      <p:sp>
        <p:nvSpPr>
          <p:cNvPr id="6" name="Shape 4"/>
          <p:cNvSpPr/>
          <p:nvPr/>
        </p:nvSpPr>
        <p:spPr>
          <a:xfrm>
            <a:off x="548640" y="2971800"/>
            <a:ext cx="4206240" cy="1600200"/>
          </a:xfrm>
          <a:prstGeom prst="roundRect">
            <a:avLst>
              <a:gd name="adj" fmla="val 6857"/>
            </a:avLst>
          </a:prstGeom>
          <a:solidFill>
            <a:srgbClr val="F4F4F5"/>
          </a:solidFill>
          <a:ln w="12700">
            <a:solidFill>
              <a:srgbClr val="F4F4F5"/>
            </a:solidFill>
            <a:prstDash val="solid"/>
          </a:ln>
        </p:spPr>
      </p:sp>
      <p:sp>
        <p:nvSpPr>
          <p:cNvPr id="7" name="Text 5"/>
          <p:cNvSpPr txBox="1"/>
          <p:nvPr/>
        </p:nvSpPr>
        <p:spPr>
          <a:xfrm>
            <a:off x="731520" y="3063240"/>
            <a:ext cx="3840480" cy="1417320"/>
          </a:xfrm>
          <a:prstGeom prst="rect">
            <a:avLst/>
          </a:prstGeom>
          <a:noFill/>
          <a:ln/>
        </p:spPr>
        <p:txBody>
          <a:bodyPr wrap="square" lIns="0" tIns="0" rIns="0" bIns="0" rtlCol="0" anchor="t"/>
          <a:lstStyle/>
          <a:p>
            <a:pPr indent="0" marL="0">
              <a:buNone/>
            </a:pPr>
            <a:r>
              <a:rPr lang="en-US" sz="1500" b="1" dirty="0">
                <a:solidFill>
                  <a:srgbClr val="F26A00"/>
                </a:solidFill>
                <a:latin typeface="Calibri" pitchFamily="34" charset="0"/>
                <a:ea typeface="Calibri" pitchFamily="34" charset="-122"/>
                <a:cs typeface="Calibri" pitchFamily="34" charset="-120"/>
              </a:rPr>
              <a:t>Çözüm: BookFlow</a:t>
            </a:r>
            <a:endParaRPr lang="en-US" sz="1500" dirty="0"/>
          </a:p>
          <a:p>
            <a:pPr indent="0" marL="0">
              <a:buNone/>
            </a:pPr>
            <a:r>
              <a:rPr lang="en-US" sz="1300" dirty="0">
                <a:solidFill>
                  <a:srgbClr val="1F2937"/>
                </a:solidFill>
                <a:latin typeface="Calibri" pitchFamily="34" charset="0"/>
                <a:ea typeface="Calibri" pitchFamily="34" charset="-122"/>
                <a:cs typeface="Calibri" pitchFamily="34" charset="-120"/>
              </a:rPr>
              <a:t>Müşteriler kitapları arar ve sipariş verir; yöneticiler stok, sipariş ve satışı tek panelden yönetir. Fiyat, stok ve yetki kuralları sunucuda işlenir.</a:t>
            </a:r>
            <a:endParaRPr lang="en-US" sz="1500" dirty="0"/>
          </a:p>
        </p:txBody>
      </p:sp>
      <p:sp>
        <p:nvSpPr>
          <p:cNvPr id="8" name="Shape 6"/>
          <p:cNvSpPr/>
          <p:nvPr/>
        </p:nvSpPr>
        <p:spPr>
          <a:xfrm>
            <a:off x="5120640" y="1371600"/>
            <a:ext cx="1691640" cy="1417320"/>
          </a:xfrm>
          <a:prstGeom prst="roundRect">
            <a:avLst>
              <a:gd name="adj" fmla="val 7742"/>
            </a:avLst>
          </a:prstGeom>
          <a:solidFill>
            <a:srgbClr val="111114"/>
          </a:solidFill>
          <a:ln w="12700">
            <a:solidFill>
              <a:srgbClr val="111114"/>
            </a:solidFill>
            <a:prstDash val="solid"/>
          </a:ln>
        </p:spPr>
      </p:sp>
      <p:sp>
        <p:nvSpPr>
          <p:cNvPr id="9" name="Text 7"/>
          <p:cNvSpPr txBox="1"/>
          <p:nvPr/>
        </p:nvSpPr>
        <p:spPr>
          <a:xfrm>
            <a:off x="5120640" y="1554480"/>
            <a:ext cx="1691640" cy="685800"/>
          </a:xfrm>
          <a:prstGeom prst="rect">
            <a:avLst/>
          </a:prstGeom>
          <a:noFill/>
          <a:ln/>
        </p:spPr>
        <p:txBody>
          <a:bodyPr wrap="square" lIns="0" tIns="0" rIns="0" bIns="0" rtlCol="0" anchor="ctr"/>
          <a:lstStyle/>
          <a:p>
            <a:pPr algn="ctr" indent="0" marL="0">
              <a:buNone/>
            </a:pPr>
            <a:r>
              <a:rPr lang="en-US" sz="4400" b="1" dirty="0">
                <a:solidFill>
                  <a:srgbClr val="F26A00"/>
                </a:solidFill>
                <a:latin typeface="Cambria" pitchFamily="34" charset="0"/>
                <a:ea typeface="Cambria" pitchFamily="34" charset="-122"/>
                <a:cs typeface="Cambria" pitchFamily="34" charset="-120"/>
              </a:rPr>
              <a:t>2</a:t>
            </a:r>
            <a:endParaRPr lang="en-US" sz="4400" dirty="0"/>
          </a:p>
        </p:txBody>
      </p:sp>
      <p:sp>
        <p:nvSpPr>
          <p:cNvPr id="10" name="Text 8"/>
          <p:cNvSpPr txBox="1"/>
          <p:nvPr/>
        </p:nvSpPr>
        <p:spPr>
          <a:xfrm>
            <a:off x="5120640" y="2240280"/>
            <a:ext cx="16916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kullanıcı rolü</a:t>
            </a:r>
            <a:endParaRPr lang="en-US" sz="1200" dirty="0"/>
          </a:p>
        </p:txBody>
      </p:sp>
      <p:sp>
        <p:nvSpPr>
          <p:cNvPr id="11" name="Shape 9"/>
          <p:cNvSpPr/>
          <p:nvPr/>
        </p:nvSpPr>
        <p:spPr>
          <a:xfrm>
            <a:off x="6949440" y="1371600"/>
            <a:ext cx="1691640" cy="1417320"/>
          </a:xfrm>
          <a:prstGeom prst="roundRect">
            <a:avLst>
              <a:gd name="adj" fmla="val 7742"/>
            </a:avLst>
          </a:prstGeom>
          <a:solidFill>
            <a:srgbClr val="111114"/>
          </a:solidFill>
          <a:ln w="12700">
            <a:solidFill>
              <a:srgbClr val="111114"/>
            </a:solidFill>
            <a:prstDash val="solid"/>
          </a:ln>
        </p:spPr>
      </p:sp>
      <p:sp>
        <p:nvSpPr>
          <p:cNvPr id="12" name="Text 10"/>
          <p:cNvSpPr txBox="1"/>
          <p:nvPr/>
        </p:nvSpPr>
        <p:spPr>
          <a:xfrm>
            <a:off x="6949440" y="1554480"/>
            <a:ext cx="1691640" cy="685800"/>
          </a:xfrm>
          <a:prstGeom prst="rect">
            <a:avLst/>
          </a:prstGeom>
          <a:noFill/>
          <a:ln/>
        </p:spPr>
        <p:txBody>
          <a:bodyPr wrap="square" lIns="0" tIns="0" rIns="0" bIns="0" rtlCol="0" anchor="ctr"/>
          <a:lstStyle/>
          <a:p>
            <a:pPr algn="ctr" indent="0" marL="0">
              <a:buNone/>
            </a:pPr>
            <a:r>
              <a:rPr lang="en-US" sz="4400" b="1" dirty="0">
                <a:solidFill>
                  <a:srgbClr val="F26A00"/>
                </a:solidFill>
                <a:latin typeface="Cambria" pitchFamily="34" charset="0"/>
                <a:ea typeface="Cambria" pitchFamily="34" charset="-122"/>
                <a:cs typeface="Cambria" pitchFamily="34" charset="-120"/>
              </a:rPr>
              <a:t>9</a:t>
            </a:r>
            <a:endParaRPr lang="en-US" sz="4400" dirty="0"/>
          </a:p>
        </p:txBody>
      </p:sp>
      <p:sp>
        <p:nvSpPr>
          <p:cNvPr id="13" name="Text 11"/>
          <p:cNvSpPr txBox="1"/>
          <p:nvPr/>
        </p:nvSpPr>
        <p:spPr>
          <a:xfrm>
            <a:off x="6949440" y="2240280"/>
            <a:ext cx="16916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veritabanı tablosu</a:t>
            </a:r>
            <a:endParaRPr lang="en-US" sz="1200" dirty="0"/>
          </a:p>
        </p:txBody>
      </p:sp>
      <p:sp>
        <p:nvSpPr>
          <p:cNvPr id="14" name="Shape 12"/>
          <p:cNvSpPr/>
          <p:nvPr/>
        </p:nvSpPr>
        <p:spPr>
          <a:xfrm>
            <a:off x="5120640" y="2971800"/>
            <a:ext cx="1691640" cy="1417320"/>
          </a:xfrm>
          <a:prstGeom prst="roundRect">
            <a:avLst>
              <a:gd name="adj" fmla="val 7742"/>
            </a:avLst>
          </a:prstGeom>
          <a:solidFill>
            <a:srgbClr val="111114"/>
          </a:solidFill>
          <a:ln w="12700">
            <a:solidFill>
              <a:srgbClr val="111114"/>
            </a:solidFill>
            <a:prstDash val="solid"/>
          </a:ln>
        </p:spPr>
      </p:sp>
      <p:sp>
        <p:nvSpPr>
          <p:cNvPr id="15" name="Text 13"/>
          <p:cNvSpPr txBox="1"/>
          <p:nvPr/>
        </p:nvSpPr>
        <p:spPr>
          <a:xfrm>
            <a:off x="5120640" y="3154680"/>
            <a:ext cx="1691640" cy="685800"/>
          </a:xfrm>
          <a:prstGeom prst="rect">
            <a:avLst/>
          </a:prstGeom>
          <a:noFill/>
          <a:ln/>
        </p:spPr>
        <p:txBody>
          <a:bodyPr wrap="square" lIns="0" tIns="0" rIns="0" bIns="0" rtlCol="0" anchor="ctr"/>
          <a:lstStyle/>
          <a:p>
            <a:pPr algn="ctr" indent="0" marL="0">
              <a:buNone/>
            </a:pPr>
            <a:r>
              <a:rPr lang="en-US" sz="4400" b="1" dirty="0">
                <a:solidFill>
                  <a:srgbClr val="F26A00"/>
                </a:solidFill>
                <a:latin typeface="Cambria" pitchFamily="34" charset="0"/>
                <a:ea typeface="Cambria" pitchFamily="34" charset="-122"/>
                <a:cs typeface="Cambria" pitchFamily="34" charset="-120"/>
              </a:rPr>
              <a:t>47</a:t>
            </a:r>
            <a:endParaRPr lang="en-US" sz="4400" dirty="0"/>
          </a:p>
        </p:txBody>
      </p:sp>
      <p:sp>
        <p:nvSpPr>
          <p:cNvPr id="16" name="Text 14"/>
          <p:cNvSpPr txBox="1"/>
          <p:nvPr/>
        </p:nvSpPr>
        <p:spPr>
          <a:xfrm>
            <a:off x="5120640" y="3840480"/>
            <a:ext cx="16916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API ucu</a:t>
            </a:r>
            <a:endParaRPr lang="en-US" sz="1200" dirty="0"/>
          </a:p>
        </p:txBody>
      </p:sp>
      <p:sp>
        <p:nvSpPr>
          <p:cNvPr id="17" name="Shape 15"/>
          <p:cNvSpPr/>
          <p:nvPr/>
        </p:nvSpPr>
        <p:spPr>
          <a:xfrm>
            <a:off x="6949440" y="2971800"/>
            <a:ext cx="1691640" cy="1417320"/>
          </a:xfrm>
          <a:prstGeom prst="roundRect">
            <a:avLst>
              <a:gd name="adj" fmla="val 7742"/>
            </a:avLst>
          </a:prstGeom>
          <a:solidFill>
            <a:srgbClr val="111114"/>
          </a:solidFill>
          <a:ln w="12700">
            <a:solidFill>
              <a:srgbClr val="111114"/>
            </a:solidFill>
            <a:prstDash val="solid"/>
          </a:ln>
        </p:spPr>
      </p:sp>
      <p:sp>
        <p:nvSpPr>
          <p:cNvPr id="18" name="Text 16"/>
          <p:cNvSpPr txBox="1"/>
          <p:nvPr/>
        </p:nvSpPr>
        <p:spPr>
          <a:xfrm>
            <a:off x="6949440" y="3154680"/>
            <a:ext cx="1691640" cy="685800"/>
          </a:xfrm>
          <a:prstGeom prst="rect">
            <a:avLst/>
          </a:prstGeom>
          <a:noFill/>
          <a:ln/>
        </p:spPr>
        <p:txBody>
          <a:bodyPr wrap="square" lIns="0" tIns="0" rIns="0" bIns="0" rtlCol="0" anchor="ctr"/>
          <a:lstStyle/>
          <a:p>
            <a:pPr algn="ctr" indent="0" marL="0">
              <a:buNone/>
            </a:pPr>
            <a:r>
              <a:rPr lang="en-US" sz="4400" b="1" dirty="0">
                <a:solidFill>
                  <a:srgbClr val="F26A00"/>
                </a:solidFill>
                <a:latin typeface="Cambria" pitchFamily="34" charset="0"/>
                <a:ea typeface="Cambria" pitchFamily="34" charset="-122"/>
                <a:cs typeface="Cambria" pitchFamily="34" charset="-120"/>
              </a:rPr>
              <a:t>46</a:t>
            </a:r>
            <a:endParaRPr lang="en-US" sz="4400" dirty="0"/>
          </a:p>
        </p:txBody>
      </p:sp>
      <p:sp>
        <p:nvSpPr>
          <p:cNvPr id="19" name="Text 17"/>
          <p:cNvSpPr txBox="1"/>
          <p:nvPr/>
        </p:nvSpPr>
        <p:spPr>
          <a:xfrm>
            <a:off x="6949440" y="3840480"/>
            <a:ext cx="169164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otomatik test</a:t>
            </a:r>
            <a:endParaRPr lang="en-US" sz="1200" dirty="0"/>
          </a:p>
        </p:txBody>
      </p:sp>
      <p:sp>
        <p:nvSpPr>
          <p:cNvPr id="20" name="Text 18"/>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21" name="Text 19"/>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Kullanıcı Rolleri ve Özellikler</a:t>
            </a:r>
            <a:endParaRPr lang="en-US" sz="2800" dirty="0"/>
          </a:p>
        </p:txBody>
      </p:sp>
      <p:sp>
        <p:nvSpPr>
          <p:cNvPr id="3" name="Shape 1"/>
          <p:cNvSpPr/>
          <p:nvPr/>
        </p:nvSpPr>
        <p:spPr>
          <a:xfrm>
            <a:off x="548640" y="1143000"/>
            <a:ext cx="3931920" cy="3429000"/>
          </a:xfrm>
          <a:prstGeom prst="roundRect">
            <a:avLst>
              <a:gd name="adj" fmla="val 3200"/>
            </a:avLst>
          </a:prstGeom>
          <a:solidFill>
            <a:srgbClr val="F4F4F5"/>
          </a:solidFill>
          <a:ln w="12700">
            <a:solidFill>
              <a:srgbClr val="F4F4F5"/>
            </a:solidFill>
            <a:prstDash val="solid"/>
          </a:ln>
        </p:spPr>
      </p:sp>
      <p:sp>
        <p:nvSpPr>
          <p:cNvPr id="4" name="Shape 2"/>
          <p:cNvSpPr/>
          <p:nvPr/>
        </p:nvSpPr>
        <p:spPr>
          <a:xfrm>
            <a:off x="777240" y="1325880"/>
            <a:ext cx="502920" cy="502920"/>
          </a:xfrm>
          <a:prstGeom prst="ellipse">
            <a:avLst/>
          </a:prstGeom>
          <a:solidFill>
            <a:srgbClr val="F26A00"/>
          </a:solidFill>
          <a:ln w="12700">
            <a:solidFill>
              <a:srgbClr val="F26A00"/>
            </a:solidFill>
            <a:prstDash val="solid"/>
          </a:ln>
        </p:spPr>
      </p:sp>
      <p:pic>
        <p:nvPicPr>
          <p:cNvPr id="5" name="Image 0" descr="preencoded.png">    </p:cNvPr>
          <p:cNvPicPr>
            <a:picLocks noChangeAspect="1"/>
          </p:cNvPicPr>
          <p:nvPr/>
        </p:nvPicPr>
        <p:blipFill>
          <a:blip r:embed="rId1"/>
          <a:stretch>
            <a:fillRect/>
          </a:stretch>
        </p:blipFill>
        <p:spPr>
          <a:xfrm>
            <a:off x="902970" y="1451610"/>
            <a:ext cx="251460" cy="251460"/>
          </a:xfrm>
          <a:prstGeom prst="rect">
            <a:avLst/>
          </a:prstGeom>
        </p:spPr>
      </p:pic>
      <p:sp>
        <p:nvSpPr>
          <p:cNvPr id="6" name="Text 3"/>
          <p:cNvSpPr txBox="1"/>
          <p:nvPr/>
        </p:nvSpPr>
        <p:spPr>
          <a:xfrm>
            <a:off x="1417320" y="1325880"/>
            <a:ext cx="2743200" cy="50292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Müşteri</a:t>
            </a:r>
            <a:endParaRPr lang="en-US" sz="2000" dirty="0"/>
          </a:p>
        </p:txBody>
      </p:sp>
      <p:sp>
        <p:nvSpPr>
          <p:cNvPr id="7" name="Text 4"/>
          <p:cNvSpPr txBox="1"/>
          <p:nvPr/>
        </p:nvSpPr>
        <p:spPr>
          <a:xfrm>
            <a:off x="822960" y="2057400"/>
            <a:ext cx="3474720" cy="2423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Kayıt ol / giriş yap</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Kitap arama ve kategori filtresi</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Sepet ve sipariş (teslimat adresi)</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Favoriler ve kitap yorumları</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Sipariş takibi, bekleyen siparişi iptal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Profil ve şifre güncelleme</a:t>
            </a:r>
            <a:endParaRPr lang="en-US" sz="1400" dirty="0"/>
          </a:p>
        </p:txBody>
      </p:sp>
      <p:sp>
        <p:nvSpPr>
          <p:cNvPr id="8" name="Shape 5"/>
          <p:cNvSpPr/>
          <p:nvPr/>
        </p:nvSpPr>
        <p:spPr>
          <a:xfrm>
            <a:off x="4663440" y="1143000"/>
            <a:ext cx="3931920" cy="3429000"/>
          </a:xfrm>
          <a:prstGeom prst="roundRect">
            <a:avLst>
              <a:gd name="adj" fmla="val 3200"/>
            </a:avLst>
          </a:prstGeom>
          <a:solidFill>
            <a:srgbClr val="F4F4F5"/>
          </a:solidFill>
          <a:ln w="12700">
            <a:solidFill>
              <a:srgbClr val="F4F4F5"/>
            </a:solidFill>
            <a:prstDash val="solid"/>
          </a:ln>
        </p:spPr>
      </p:sp>
      <p:sp>
        <p:nvSpPr>
          <p:cNvPr id="9" name="Shape 6"/>
          <p:cNvSpPr/>
          <p:nvPr/>
        </p:nvSpPr>
        <p:spPr>
          <a:xfrm>
            <a:off x="4892040" y="1325880"/>
            <a:ext cx="502920" cy="502920"/>
          </a:xfrm>
          <a:prstGeom prst="ellipse">
            <a:avLst/>
          </a:prstGeom>
          <a:solidFill>
            <a:srgbClr val="F26A00"/>
          </a:solidFill>
          <a:ln w="12700">
            <a:solidFill>
              <a:srgbClr val="F26A00"/>
            </a:solidFill>
            <a:prstDash val="solid"/>
          </a:ln>
        </p:spPr>
      </p:sp>
      <p:pic>
        <p:nvPicPr>
          <p:cNvPr id="10" name="Image 1" descr="preencoded.png">    </p:cNvPr>
          <p:cNvPicPr>
            <a:picLocks noChangeAspect="1"/>
          </p:cNvPicPr>
          <p:nvPr/>
        </p:nvPicPr>
        <p:blipFill>
          <a:blip r:embed="rId2"/>
          <a:stretch>
            <a:fillRect/>
          </a:stretch>
        </p:blipFill>
        <p:spPr>
          <a:xfrm>
            <a:off x="5017770" y="1451610"/>
            <a:ext cx="251460" cy="251460"/>
          </a:xfrm>
          <a:prstGeom prst="rect">
            <a:avLst/>
          </a:prstGeom>
        </p:spPr>
      </p:pic>
      <p:sp>
        <p:nvSpPr>
          <p:cNvPr id="11" name="Text 7"/>
          <p:cNvSpPr txBox="1"/>
          <p:nvPr/>
        </p:nvSpPr>
        <p:spPr>
          <a:xfrm>
            <a:off x="5532120" y="1325880"/>
            <a:ext cx="2743200" cy="50292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Yönetici</a:t>
            </a:r>
            <a:endParaRPr lang="en-US" sz="2000" dirty="0"/>
          </a:p>
        </p:txBody>
      </p:sp>
      <p:sp>
        <p:nvSpPr>
          <p:cNvPr id="12" name="Text 8"/>
          <p:cNvSpPr txBox="1"/>
          <p:nvPr/>
        </p:nvSpPr>
        <p:spPr>
          <a:xfrm>
            <a:off x="4937760" y="2057400"/>
            <a:ext cx="3474720" cy="24231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Dashboard, satış ve gelir raporları</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Kitap yönetimi (kapak yükleme dahil)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Kategori ve yazar yönetimi</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Kullanıcı yönetimi</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Sipariş durumu: kargola, teslim et, iptal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İşlem kayıtları (kim, ne zaman, ne yaptı)</a:t>
            </a:r>
            <a:endParaRPr lang="en-US" sz="1400" dirty="0"/>
          </a:p>
        </p:txBody>
      </p:sp>
      <p:sp>
        <p:nvSpPr>
          <p:cNvPr id="13" name="Text 9"/>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14" name="Text 10"/>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Teknoloji Yığını (Tech Stack)</a:t>
            </a:r>
            <a:endParaRPr lang="en-US" sz="2800" dirty="0"/>
          </a:p>
        </p:txBody>
      </p:sp>
      <p:sp>
        <p:nvSpPr>
          <p:cNvPr id="3" name="Shape 1"/>
          <p:cNvSpPr/>
          <p:nvPr/>
        </p:nvSpPr>
        <p:spPr>
          <a:xfrm>
            <a:off x="548640" y="1097280"/>
            <a:ext cx="2560320" cy="2788920"/>
          </a:xfrm>
          <a:prstGeom prst="roundRect">
            <a:avLst>
              <a:gd name="adj" fmla="val 4286"/>
            </a:avLst>
          </a:prstGeom>
          <a:solidFill>
            <a:srgbClr val="F4F4F5"/>
          </a:solidFill>
          <a:ln w="12700">
            <a:solidFill>
              <a:srgbClr val="F4F4F5"/>
            </a:solidFill>
            <a:prstDash val="solid"/>
          </a:ln>
        </p:spPr>
      </p:sp>
      <p:sp>
        <p:nvSpPr>
          <p:cNvPr id="4" name="Shape 2"/>
          <p:cNvSpPr/>
          <p:nvPr/>
        </p:nvSpPr>
        <p:spPr>
          <a:xfrm>
            <a:off x="731520" y="1261872"/>
            <a:ext cx="457200" cy="457200"/>
          </a:xfrm>
          <a:prstGeom prst="ellipse">
            <a:avLst/>
          </a:prstGeom>
          <a:solidFill>
            <a:srgbClr val="F26A00"/>
          </a:solidFill>
          <a:ln w="12700">
            <a:solidFill>
              <a:srgbClr val="F26A00"/>
            </a:solidFill>
            <a:prstDash val="solid"/>
          </a:ln>
        </p:spPr>
      </p:sp>
      <p:pic>
        <p:nvPicPr>
          <p:cNvPr id="5" name="Image 0" descr="preencoded.png">    </p:cNvPr>
          <p:cNvPicPr>
            <a:picLocks noChangeAspect="1"/>
          </p:cNvPicPr>
          <p:nvPr/>
        </p:nvPicPr>
        <p:blipFill>
          <a:blip r:embed="rId1"/>
          <a:stretch>
            <a:fillRect/>
          </a:stretch>
        </p:blipFill>
        <p:spPr>
          <a:xfrm>
            <a:off x="845820" y="1376172"/>
            <a:ext cx="228600" cy="228600"/>
          </a:xfrm>
          <a:prstGeom prst="rect">
            <a:avLst/>
          </a:prstGeom>
        </p:spPr>
      </p:pic>
      <p:sp>
        <p:nvSpPr>
          <p:cNvPr id="6" name="Text 3"/>
          <p:cNvSpPr txBox="1"/>
          <p:nvPr/>
        </p:nvSpPr>
        <p:spPr>
          <a:xfrm>
            <a:off x="1298448" y="1261872"/>
            <a:ext cx="1737360" cy="45720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Frontend</a:t>
            </a:r>
            <a:endParaRPr lang="en-US" sz="1500" dirty="0"/>
          </a:p>
        </p:txBody>
      </p:sp>
      <p:sp>
        <p:nvSpPr>
          <p:cNvPr id="7" name="Text 4"/>
          <p:cNvSpPr txBox="1"/>
          <p:nvPr/>
        </p:nvSpPr>
        <p:spPr>
          <a:xfrm>
            <a:off x="777240" y="1920240"/>
            <a:ext cx="219456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React 19</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Next.js 16 (yalnızca istemci)</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TypeScript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Tailwind CSS 4, Radix UI</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Recharts (grafikler)</a:t>
            </a:r>
            <a:endParaRPr lang="en-US" sz="1300" dirty="0"/>
          </a:p>
        </p:txBody>
      </p:sp>
      <p:sp>
        <p:nvSpPr>
          <p:cNvPr id="8" name="Shape 5"/>
          <p:cNvSpPr/>
          <p:nvPr/>
        </p:nvSpPr>
        <p:spPr>
          <a:xfrm>
            <a:off x="3291840" y="1097280"/>
            <a:ext cx="2560320" cy="2788920"/>
          </a:xfrm>
          <a:prstGeom prst="roundRect">
            <a:avLst>
              <a:gd name="adj" fmla="val 4286"/>
            </a:avLst>
          </a:prstGeom>
          <a:solidFill>
            <a:srgbClr val="F4F4F5"/>
          </a:solidFill>
          <a:ln w="12700">
            <a:solidFill>
              <a:srgbClr val="F4F4F5"/>
            </a:solidFill>
            <a:prstDash val="solid"/>
          </a:ln>
        </p:spPr>
      </p:sp>
      <p:sp>
        <p:nvSpPr>
          <p:cNvPr id="9" name="Shape 6"/>
          <p:cNvSpPr/>
          <p:nvPr/>
        </p:nvSpPr>
        <p:spPr>
          <a:xfrm>
            <a:off x="3474720" y="1261872"/>
            <a:ext cx="457200" cy="457200"/>
          </a:xfrm>
          <a:prstGeom prst="ellipse">
            <a:avLst/>
          </a:prstGeom>
          <a:solidFill>
            <a:srgbClr val="F26A00"/>
          </a:solidFill>
          <a:ln w="12700">
            <a:solidFill>
              <a:srgbClr val="F26A00"/>
            </a:solidFill>
            <a:prstDash val="solid"/>
          </a:ln>
        </p:spPr>
      </p:sp>
      <p:pic>
        <p:nvPicPr>
          <p:cNvPr id="10" name="Image 1" descr="preencoded.png">    </p:cNvPr>
          <p:cNvPicPr>
            <a:picLocks noChangeAspect="1"/>
          </p:cNvPicPr>
          <p:nvPr/>
        </p:nvPicPr>
        <p:blipFill>
          <a:blip r:embed="rId2"/>
          <a:stretch>
            <a:fillRect/>
          </a:stretch>
        </p:blipFill>
        <p:spPr>
          <a:xfrm>
            <a:off x="3589020" y="1376172"/>
            <a:ext cx="228600" cy="228600"/>
          </a:xfrm>
          <a:prstGeom prst="rect">
            <a:avLst/>
          </a:prstGeom>
        </p:spPr>
      </p:pic>
      <p:sp>
        <p:nvSpPr>
          <p:cNvPr id="11" name="Text 7"/>
          <p:cNvSpPr txBox="1"/>
          <p:nvPr/>
        </p:nvSpPr>
        <p:spPr>
          <a:xfrm>
            <a:off x="4041648" y="1261872"/>
            <a:ext cx="1737360" cy="45720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Backend</a:t>
            </a:r>
            <a:endParaRPr lang="en-US" sz="1500" dirty="0"/>
          </a:p>
        </p:txBody>
      </p:sp>
      <p:sp>
        <p:nvSpPr>
          <p:cNvPr id="12" name="Text 8"/>
          <p:cNvSpPr txBox="1"/>
          <p:nvPr/>
        </p:nvSpPr>
        <p:spPr>
          <a:xfrm>
            <a:off x="3520440" y="1920240"/>
            <a:ext cx="219456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PHP 8.3+</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Laravel 13 (REST API)</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Laravel Sanctum (token)</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Eloquent ORM</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PHPUnit (46 test)</a:t>
            </a:r>
            <a:endParaRPr lang="en-US" sz="1300" dirty="0"/>
          </a:p>
        </p:txBody>
      </p:sp>
      <p:sp>
        <p:nvSpPr>
          <p:cNvPr id="13" name="Shape 9"/>
          <p:cNvSpPr/>
          <p:nvPr/>
        </p:nvSpPr>
        <p:spPr>
          <a:xfrm>
            <a:off x="6035040" y="1097280"/>
            <a:ext cx="2560320" cy="2788920"/>
          </a:xfrm>
          <a:prstGeom prst="roundRect">
            <a:avLst>
              <a:gd name="adj" fmla="val 4286"/>
            </a:avLst>
          </a:prstGeom>
          <a:solidFill>
            <a:srgbClr val="F4F4F5"/>
          </a:solidFill>
          <a:ln w="12700">
            <a:solidFill>
              <a:srgbClr val="F4F4F5"/>
            </a:solidFill>
            <a:prstDash val="solid"/>
          </a:ln>
        </p:spPr>
      </p:sp>
      <p:sp>
        <p:nvSpPr>
          <p:cNvPr id="14" name="Shape 10"/>
          <p:cNvSpPr/>
          <p:nvPr/>
        </p:nvSpPr>
        <p:spPr>
          <a:xfrm>
            <a:off x="6217920" y="1261872"/>
            <a:ext cx="457200" cy="457200"/>
          </a:xfrm>
          <a:prstGeom prst="ellipse">
            <a:avLst/>
          </a:prstGeom>
          <a:solidFill>
            <a:srgbClr val="F26A00"/>
          </a:solidFill>
          <a:ln w="12700">
            <a:solidFill>
              <a:srgbClr val="F26A00"/>
            </a:solidFill>
            <a:prstDash val="solid"/>
          </a:ln>
        </p:spPr>
      </p:sp>
      <p:pic>
        <p:nvPicPr>
          <p:cNvPr id="15" name="Image 2" descr="preencoded.png">    </p:cNvPr>
          <p:cNvPicPr>
            <a:picLocks noChangeAspect="1"/>
          </p:cNvPicPr>
          <p:nvPr/>
        </p:nvPicPr>
        <p:blipFill>
          <a:blip r:embed="rId3"/>
          <a:stretch>
            <a:fillRect/>
          </a:stretch>
        </p:blipFill>
        <p:spPr>
          <a:xfrm>
            <a:off x="6332220" y="1376172"/>
            <a:ext cx="228600" cy="228600"/>
          </a:xfrm>
          <a:prstGeom prst="rect">
            <a:avLst/>
          </a:prstGeom>
        </p:spPr>
      </p:pic>
      <p:sp>
        <p:nvSpPr>
          <p:cNvPr id="16" name="Text 11"/>
          <p:cNvSpPr txBox="1"/>
          <p:nvPr/>
        </p:nvSpPr>
        <p:spPr>
          <a:xfrm>
            <a:off x="6784848" y="1261872"/>
            <a:ext cx="1737360" cy="45720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Veritabanı ve Araçlar</a:t>
            </a:r>
            <a:endParaRPr lang="en-US" sz="1500" dirty="0"/>
          </a:p>
        </p:txBody>
      </p:sp>
      <p:sp>
        <p:nvSpPr>
          <p:cNvPr id="17" name="Text 12"/>
          <p:cNvSpPr txBox="1"/>
          <p:nvPr/>
        </p:nvSpPr>
        <p:spPr>
          <a:xfrm>
            <a:off x="6263640" y="1920240"/>
            <a:ext cx="2194560" cy="1874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MySQL</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Migration ve Seeder</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MySQL Workbench (ER)</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Git / GitHub</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Composer, npm</a:t>
            </a:r>
            <a:endParaRPr lang="en-US" sz="1300" dirty="0"/>
          </a:p>
        </p:txBody>
      </p:sp>
      <p:sp>
        <p:nvSpPr>
          <p:cNvPr id="18" name="Shape 13"/>
          <p:cNvSpPr/>
          <p:nvPr/>
        </p:nvSpPr>
        <p:spPr>
          <a:xfrm>
            <a:off x="548640" y="4069080"/>
            <a:ext cx="8046720" cy="548640"/>
          </a:xfrm>
          <a:prstGeom prst="roundRect">
            <a:avLst>
              <a:gd name="adj" fmla="val 16667"/>
            </a:avLst>
          </a:prstGeom>
          <a:solidFill>
            <a:srgbClr val="111114"/>
          </a:solidFill>
          <a:ln w="12700">
            <a:solidFill>
              <a:srgbClr val="111114"/>
            </a:solidFill>
            <a:prstDash val="solid"/>
          </a:ln>
        </p:spPr>
      </p:sp>
      <p:sp>
        <p:nvSpPr>
          <p:cNvPr id="19" name="Text 14"/>
          <p:cNvSpPr txBox="1"/>
          <p:nvPr/>
        </p:nvSpPr>
        <p:spPr>
          <a:xfrm>
            <a:off x="731520" y="4069080"/>
            <a:ext cx="7680960" cy="548640"/>
          </a:xfrm>
          <a:prstGeom prst="rect">
            <a:avLst/>
          </a:prstGeom>
          <a:noFill/>
          <a:ln/>
        </p:spPr>
        <p:txBody>
          <a:bodyPr wrap="square" lIns="0" tIns="0" rIns="0" bIns="0" rtlCol="0" anchor="ctr"/>
          <a:lstStyle/>
          <a:p>
            <a:pPr indent="0" marL="0">
              <a:buNone/>
            </a:pPr>
            <a:r>
              <a:rPr lang="en-US" sz="1300" b="1" dirty="0">
                <a:solidFill>
                  <a:srgbClr val="F26A00"/>
                </a:solidFill>
                <a:latin typeface="Calibri" pitchFamily="34" charset="0"/>
                <a:ea typeface="Calibri" pitchFamily="34" charset="-122"/>
                <a:cs typeface="Calibri" pitchFamily="34" charset="-120"/>
              </a:rPr>
              <a:t>Ayrı geliştirme: </a:t>
            </a:r>
            <a:pPr indent="0" marL="0">
              <a:buNone/>
            </a:pPr>
            <a:r>
              <a:rPr lang="en-US" sz="1300" dirty="0">
                <a:solidFill>
                  <a:srgbClr val="FFFFFF"/>
                </a:solidFill>
                <a:latin typeface="Calibri" pitchFamily="34" charset="0"/>
                <a:ea typeface="Calibri" pitchFamily="34" charset="-122"/>
                <a:cs typeface="Calibri" pitchFamily="34" charset="-120"/>
              </a:rPr>
              <a:t>backend/ ve frontend/ klasörleri birbirinden bağımsızdır; yalnızca HTTP/JSON ile haberleşir.</a:t>
            </a:r>
            <a:endParaRPr lang="en-US" sz="1300" dirty="0"/>
          </a:p>
        </p:txBody>
      </p:sp>
      <p:sp>
        <p:nvSpPr>
          <p:cNvPr id="20" name="Text 15"/>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21" name="Text 16"/>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Sistem Mimarisi</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İstemci – API – Veritabanı</a:t>
            </a:r>
            <a:endParaRPr lang="en-US" sz="1300" dirty="0"/>
          </a:p>
        </p:txBody>
      </p:sp>
      <p:sp>
        <p:nvSpPr>
          <p:cNvPr id="4" name="Shape 2"/>
          <p:cNvSpPr/>
          <p:nvPr/>
        </p:nvSpPr>
        <p:spPr>
          <a:xfrm>
            <a:off x="548640" y="1371600"/>
            <a:ext cx="2286000" cy="1463040"/>
          </a:xfrm>
          <a:prstGeom prst="roundRect">
            <a:avLst>
              <a:gd name="adj" fmla="val 8750"/>
            </a:avLst>
          </a:prstGeom>
          <a:solidFill>
            <a:srgbClr val="111114"/>
          </a:solidFill>
          <a:ln w="12700">
            <a:solidFill>
              <a:srgbClr val="111114"/>
            </a:solidFill>
            <a:prstDash val="solid"/>
          </a:ln>
        </p:spPr>
      </p:sp>
      <p:pic>
        <p:nvPicPr>
          <p:cNvPr id="5" name="Image 0" descr="preencoded.png">    </p:cNvPr>
          <p:cNvPicPr>
            <a:picLocks noChangeAspect="1"/>
          </p:cNvPicPr>
          <p:nvPr/>
        </p:nvPicPr>
        <p:blipFill>
          <a:blip r:embed="rId1"/>
          <a:stretch>
            <a:fillRect/>
          </a:stretch>
        </p:blipFill>
        <p:spPr>
          <a:xfrm>
            <a:off x="1508760" y="1481328"/>
            <a:ext cx="365760" cy="365760"/>
          </a:xfrm>
          <a:prstGeom prst="rect">
            <a:avLst/>
          </a:prstGeom>
        </p:spPr>
      </p:pic>
      <p:sp>
        <p:nvSpPr>
          <p:cNvPr id="6" name="Text 3"/>
          <p:cNvSpPr txBox="1"/>
          <p:nvPr/>
        </p:nvSpPr>
        <p:spPr>
          <a:xfrm>
            <a:off x="548640" y="1901952"/>
            <a:ext cx="2286000" cy="8686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Tarayıcı</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React (Next.js)</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localhost:3000</a:t>
            </a:r>
            <a:endParaRPr lang="en-US" sz="1600" dirty="0"/>
          </a:p>
        </p:txBody>
      </p:sp>
      <p:sp>
        <p:nvSpPr>
          <p:cNvPr id="7" name="Shape 4"/>
          <p:cNvSpPr/>
          <p:nvPr/>
        </p:nvSpPr>
        <p:spPr>
          <a:xfrm>
            <a:off x="3429000" y="1371600"/>
            <a:ext cx="2286000" cy="1463040"/>
          </a:xfrm>
          <a:prstGeom prst="roundRect">
            <a:avLst>
              <a:gd name="adj" fmla="val 8750"/>
            </a:avLst>
          </a:prstGeom>
          <a:solidFill>
            <a:srgbClr val="111114"/>
          </a:solidFill>
          <a:ln w="12700">
            <a:solidFill>
              <a:srgbClr val="111114"/>
            </a:solidFill>
            <a:prstDash val="solid"/>
          </a:ln>
        </p:spPr>
      </p:sp>
      <p:pic>
        <p:nvPicPr>
          <p:cNvPr id="8" name="Image 1" descr="preencoded.png">    </p:cNvPr>
          <p:cNvPicPr>
            <a:picLocks noChangeAspect="1"/>
          </p:cNvPicPr>
          <p:nvPr/>
        </p:nvPicPr>
        <p:blipFill>
          <a:blip r:embed="rId2"/>
          <a:stretch>
            <a:fillRect/>
          </a:stretch>
        </p:blipFill>
        <p:spPr>
          <a:xfrm>
            <a:off x="4389120" y="1481328"/>
            <a:ext cx="365760" cy="365760"/>
          </a:xfrm>
          <a:prstGeom prst="rect">
            <a:avLst/>
          </a:prstGeom>
        </p:spPr>
      </p:pic>
      <p:sp>
        <p:nvSpPr>
          <p:cNvPr id="9" name="Text 5"/>
          <p:cNvSpPr txBox="1"/>
          <p:nvPr/>
        </p:nvSpPr>
        <p:spPr>
          <a:xfrm>
            <a:off x="3429000" y="1901952"/>
            <a:ext cx="2286000" cy="8686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REST API</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Laravel</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localhost:8000</a:t>
            </a:r>
            <a:endParaRPr lang="en-US" sz="1600" dirty="0"/>
          </a:p>
        </p:txBody>
      </p:sp>
      <p:sp>
        <p:nvSpPr>
          <p:cNvPr id="10" name="Shape 6"/>
          <p:cNvSpPr/>
          <p:nvPr/>
        </p:nvSpPr>
        <p:spPr>
          <a:xfrm>
            <a:off x="6309360" y="1371600"/>
            <a:ext cx="2286000" cy="1463040"/>
          </a:xfrm>
          <a:prstGeom prst="roundRect">
            <a:avLst>
              <a:gd name="adj" fmla="val 8750"/>
            </a:avLst>
          </a:prstGeom>
          <a:solidFill>
            <a:srgbClr val="111114"/>
          </a:solidFill>
          <a:ln w="12700">
            <a:solidFill>
              <a:srgbClr val="111114"/>
            </a:solidFill>
            <a:prstDash val="solid"/>
          </a:ln>
        </p:spPr>
      </p:sp>
      <p:pic>
        <p:nvPicPr>
          <p:cNvPr id="11" name="Image 2" descr="preencoded.png">    </p:cNvPr>
          <p:cNvPicPr>
            <a:picLocks noChangeAspect="1"/>
          </p:cNvPicPr>
          <p:nvPr/>
        </p:nvPicPr>
        <p:blipFill>
          <a:blip r:embed="rId3"/>
          <a:stretch>
            <a:fillRect/>
          </a:stretch>
        </p:blipFill>
        <p:spPr>
          <a:xfrm>
            <a:off x="7269480" y="1481328"/>
            <a:ext cx="365760" cy="365760"/>
          </a:xfrm>
          <a:prstGeom prst="rect">
            <a:avLst/>
          </a:prstGeom>
        </p:spPr>
      </p:pic>
      <p:sp>
        <p:nvSpPr>
          <p:cNvPr id="12" name="Text 7"/>
          <p:cNvSpPr txBox="1"/>
          <p:nvPr/>
        </p:nvSpPr>
        <p:spPr>
          <a:xfrm>
            <a:off x="6309360" y="1901952"/>
            <a:ext cx="2286000" cy="8686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Veritabanı</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MySQL</a:t>
            </a:r>
            <a:endParaRPr lang="en-US" sz="1600" dirty="0"/>
          </a:p>
          <a:p>
            <a:pPr algn="ctr" indent="0" marL="0">
              <a:buNone/>
            </a:pPr>
            <a:r>
              <a:rPr lang="en-US" sz="1100" dirty="0">
                <a:solidFill>
                  <a:srgbClr val="9CA3AF"/>
                </a:solidFill>
                <a:latin typeface="Calibri" pitchFamily="34" charset="0"/>
                <a:ea typeface="Calibri" pitchFamily="34" charset="-122"/>
                <a:cs typeface="Calibri" pitchFamily="34" charset="-120"/>
              </a:rPr>
              <a:t>bookflow</a:t>
            </a:r>
            <a:endParaRPr lang="en-US" sz="1600" dirty="0"/>
          </a:p>
        </p:txBody>
      </p:sp>
      <p:sp>
        <p:nvSpPr>
          <p:cNvPr id="13" name="Shape 8"/>
          <p:cNvSpPr/>
          <p:nvPr/>
        </p:nvSpPr>
        <p:spPr>
          <a:xfrm>
            <a:off x="2834640" y="1874520"/>
            <a:ext cx="594360" cy="0"/>
          </a:xfrm>
          <a:prstGeom prst="line">
            <a:avLst/>
          </a:prstGeom>
          <a:noFill/>
          <a:ln w="25400">
            <a:solidFill>
              <a:srgbClr val="F26A00"/>
            </a:solidFill>
            <a:prstDash val="solid"/>
            <a:tailEnd type="triangle"/>
          </a:ln>
        </p:spPr>
      </p:sp>
      <p:sp>
        <p:nvSpPr>
          <p:cNvPr id="14" name="Shape 9"/>
          <p:cNvSpPr/>
          <p:nvPr/>
        </p:nvSpPr>
        <p:spPr>
          <a:xfrm>
            <a:off x="3429000" y="2331720"/>
            <a:ext cx="-594360" cy="0"/>
          </a:xfrm>
          <a:prstGeom prst="line">
            <a:avLst/>
          </a:prstGeom>
          <a:noFill/>
          <a:ln w="25400">
            <a:solidFill>
              <a:srgbClr val="16A34A"/>
            </a:solidFill>
            <a:prstDash val="dash"/>
            <a:tailEnd type="triangle"/>
          </a:ln>
        </p:spPr>
      </p:sp>
      <p:sp>
        <p:nvSpPr>
          <p:cNvPr id="15" name="Shape 10"/>
          <p:cNvSpPr/>
          <p:nvPr/>
        </p:nvSpPr>
        <p:spPr>
          <a:xfrm>
            <a:off x="5715000" y="1874520"/>
            <a:ext cx="594360" cy="0"/>
          </a:xfrm>
          <a:prstGeom prst="line">
            <a:avLst/>
          </a:prstGeom>
          <a:noFill/>
          <a:ln w="25400">
            <a:solidFill>
              <a:srgbClr val="F26A00"/>
            </a:solidFill>
            <a:prstDash val="solid"/>
            <a:tailEnd type="triangle"/>
          </a:ln>
        </p:spPr>
      </p:sp>
      <p:sp>
        <p:nvSpPr>
          <p:cNvPr id="16" name="Shape 11"/>
          <p:cNvSpPr/>
          <p:nvPr/>
        </p:nvSpPr>
        <p:spPr>
          <a:xfrm>
            <a:off x="6309360" y="2331720"/>
            <a:ext cx="-594360" cy="0"/>
          </a:xfrm>
          <a:prstGeom prst="line">
            <a:avLst/>
          </a:prstGeom>
          <a:noFill/>
          <a:ln w="25400">
            <a:solidFill>
              <a:srgbClr val="16A34A"/>
            </a:solidFill>
            <a:prstDash val="dash"/>
            <a:tailEnd type="triangle"/>
          </a:ln>
        </p:spPr>
      </p:sp>
      <p:sp>
        <p:nvSpPr>
          <p:cNvPr id="17" name="Text 12"/>
          <p:cNvSpPr txBox="1"/>
          <p:nvPr/>
        </p:nvSpPr>
        <p:spPr>
          <a:xfrm>
            <a:off x="2606040" y="2926080"/>
            <a:ext cx="1051560" cy="2286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HTTP + JSON</a:t>
            </a:r>
            <a:endParaRPr lang="en-US" sz="1050" dirty="0"/>
          </a:p>
        </p:txBody>
      </p:sp>
      <p:sp>
        <p:nvSpPr>
          <p:cNvPr id="18" name="Text 13"/>
          <p:cNvSpPr txBox="1"/>
          <p:nvPr/>
        </p:nvSpPr>
        <p:spPr>
          <a:xfrm>
            <a:off x="5486400" y="2926080"/>
            <a:ext cx="1051560" cy="2286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SQL (Eloquent)</a:t>
            </a:r>
            <a:endParaRPr lang="en-US" sz="1050" dirty="0"/>
          </a:p>
        </p:txBody>
      </p:sp>
      <p:sp>
        <p:nvSpPr>
          <p:cNvPr id="19" name="Text 14"/>
          <p:cNvSpPr txBox="1"/>
          <p:nvPr/>
        </p:nvSpPr>
        <p:spPr>
          <a:xfrm>
            <a:off x="548640" y="3383280"/>
            <a:ext cx="365760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Backend katmanları</a:t>
            </a:r>
            <a:endParaRPr lang="en-US" sz="1400" dirty="0"/>
          </a:p>
        </p:txBody>
      </p:sp>
      <p:sp>
        <p:nvSpPr>
          <p:cNvPr id="20" name="Shape 15"/>
          <p:cNvSpPr/>
          <p:nvPr/>
        </p:nvSpPr>
        <p:spPr>
          <a:xfrm>
            <a:off x="548640" y="3703320"/>
            <a:ext cx="1874520" cy="731520"/>
          </a:xfrm>
          <a:prstGeom prst="roundRect">
            <a:avLst>
              <a:gd name="adj" fmla="val 12500"/>
            </a:avLst>
          </a:prstGeom>
          <a:solidFill>
            <a:srgbClr val="F4F4F5"/>
          </a:solidFill>
          <a:ln w="12700">
            <a:solidFill>
              <a:srgbClr val="F26A00"/>
            </a:solidFill>
            <a:prstDash val="solid"/>
          </a:ln>
        </p:spPr>
      </p:sp>
      <p:sp>
        <p:nvSpPr>
          <p:cNvPr id="21" name="Text 16"/>
          <p:cNvSpPr txBox="1"/>
          <p:nvPr/>
        </p:nvSpPr>
        <p:spPr>
          <a:xfrm>
            <a:off x="548640" y="3703320"/>
            <a:ext cx="1874520" cy="7315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Controller</a:t>
            </a:r>
            <a:endParaRPr lang="en-US" sz="1200" dirty="0"/>
          </a:p>
          <a:p>
            <a:pPr algn="ctr" indent="0" marL="0">
              <a:buNone/>
            </a:pPr>
            <a:r>
              <a:rPr lang="en-US" sz="1050" dirty="0">
                <a:solidFill>
                  <a:srgbClr val="6B7280"/>
                </a:solidFill>
                <a:latin typeface="Calibri" pitchFamily="34" charset="0"/>
                <a:ea typeface="Calibri" pitchFamily="34" charset="-122"/>
                <a:cs typeface="Calibri" pitchFamily="34" charset="-120"/>
              </a:rPr>
              <a:t>istek al, cevap dön</a:t>
            </a:r>
            <a:endParaRPr lang="en-US" sz="1200" dirty="0"/>
          </a:p>
        </p:txBody>
      </p:sp>
      <p:sp>
        <p:nvSpPr>
          <p:cNvPr id="22" name="Shape 17"/>
          <p:cNvSpPr/>
          <p:nvPr/>
        </p:nvSpPr>
        <p:spPr>
          <a:xfrm>
            <a:off x="2606040" y="3703320"/>
            <a:ext cx="1874520" cy="731520"/>
          </a:xfrm>
          <a:prstGeom prst="roundRect">
            <a:avLst>
              <a:gd name="adj" fmla="val 12500"/>
            </a:avLst>
          </a:prstGeom>
          <a:solidFill>
            <a:srgbClr val="F4F4F5"/>
          </a:solidFill>
          <a:ln w="12700">
            <a:solidFill>
              <a:srgbClr val="F26A00"/>
            </a:solidFill>
            <a:prstDash val="solid"/>
          </a:ln>
        </p:spPr>
      </p:sp>
      <p:sp>
        <p:nvSpPr>
          <p:cNvPr id="23" name="Text 18"/>
          <p:cNvSpPr txBox="1"/>
          <p:nvPr/>
        </p:nvSpPr>
        <p:spPr>
          <a:xfrm>
            <a:off x="2606040" y="3703320"/>
            <a:ext cx="1874520" cy="7315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Form Request</a:t>
            </a:r>
            <a:endParaRPr lang="en-US" sz="1200" dirty="0"/>
          </a:p>
          <a:p>
            <a:pPr algn="ctr" indent="0" marL="0">
              <a:buNone/>
            </a:pPr>
            <a:r>
              <a:rPr lang="en-US" sz="1050" dirty="0">
                <a:solidFill>
                  <a:srgbClr val="6B7280"/>
                </a:solidFill>
                <a:latin typeface="Calibri" pitchFamily="34" charset="0"/>
                <a:ea typeface="Calibri" pitchFamily="34" charset="-122"/>
                <a:cs typeface="Calibri" pitchFamily="34" charset="-120"/>
              </a:rPr>
              <a:t>veri doğrulama</a:t>
            </a:r>
            <a:endParaRPr lang="en-US" sz="1200" dirty="0"/>
          </a:p>
        </p:txBody>
      </p:sp>
      <p:sp>
        <p:nvSpPr>
          <p:cNvPr id="24" name="Shape 19"/>
          <p:cNvSpPr/>
          <p:nvPr/>
        </p:nvSpPr>
        <p:spPr>
          <a:xfrm>
            <a:off x="4663440" y="3703320"/>
            <a:ext cx="1874520" cy="731520"/>
          </a:xfrm>
          <a:prstGeom prst="roundRect">
            <a:avLst>
              <a:gd name="adj" fmla="val 12500"/>
            </a:avLst>
          </a:prstGeom>
          <a:solidFill>
            <a:srgbClr val="F4F4F5"/>
          </a:solidFill>
          <a:ln w="12700">
            <a:solidFill>
              <a:srgbClr val="F26A00"/>
            </a:solidFill>
            <a:prstDash val="solid"/>
          </a:ln>
        </p:spPr>
      </p:sp>
      <p:sp>
        <p:nvSpPr>
          <p:cNvPr id="25" name="Text 20"/>
          <p:cNvSpPr txBox="1"/>
          <p:nvPr/>
        </p:nvSpPr>
        <p:spPr>
          <a:xfrm>
            <a:off x="4663440" y="3703320"/>
            <a:ext cx="1874520" cy="7315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Service</a:t>
            </a:r>
            <a:endParaRPr lang="en-US" sz="1200" dirty="0"/>
          </a:p>
          <a:p>
            <a:pPr algn="ctr" indent="0" marL="0">
              <a:buNone/>
            </a:pPr>
            <a:r>
              <a:rPr lang="en-US" sz="1050" dirty="0">
                <a:solidFill>
                  <a:srgbClr val="6B7280"/>
                </a:solidFill>
                <a:latin typeface="Calibri" pitchFamily="34" charset="0"/>
                <a:ea typeface="Calibri" pitchFamily="34" charset="-122"/>
                <a:cs typeface="Calibri" pitchFamily="34" charset="-120"/>
              </a:rPr>
              <a:t>iş kuralları</a:t>
            </a:r>
            <a:endParaRPr lang="en-US" sz="1200" dirty="0"/>
          </a:p>
        </p:txBody>
      </p:sp>
      <p:sp>
        <p:nvSpPr>
          <p:cNvPr id="26" name="Shape 21"/>
          <p:cNvSpPr/>
          <p:nvPr/>
        </p:nvSpPr>
        <p:spPr>
          <a:xfrm>
            <a:off x="6720840" y="3703320"/>
            <a:ext cx="1874520" cy="731520"/>
          </a:xfrm>
          <a:prstGeom prst="roundRect">
            <a:avLst>
              <a:gd name="adj" fmla="val 12500"/>
            </a:avLst>
          </a:prstGeom>
          <a:solidFill>
            <a:srgbClr val="F4F4F5"/>
          </a:solidFill>
          <a:ln w="12700">
            <a:solidFill>
              <a:srgbClr val="F26A00"/>
            </a:solidFill>
            <a:prstDash val="solid"/>
          </a:ln>
        </p:spPr>
      </p:sp>
      <p:sp>
        <p:nvSpPr>
          <p:cNvPr id="27" name="Text 22"/>
          <p:cNvSpPr txBox="1"/>
          <p:nvPr/>
        </p:nvSpPr>
        <p:spPr>
          <a:xfrm>
            <a:off x="6720840" y="3703320"/>
            <a:ext cx="1874520" cy="7315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Policy / Middleware</a:t>
            </a:r>
            <a:endParaRPr lang="en-US" sz="1200" dirty="0"/>
          </a:p>
          <a:p>
            <a:pPr algn="ctr" indent="0" marL="0">
              <a:buNone/>
            </a:pPr>
            <a:r>
              <a:rPr lang="en-US" sz="1050" dirty="0">
                <a:solidFill>
                  <a:srgbClr val="6B7280"/>
                </a:solidFill>
                <a:latin typeface="Calibri" pitchFamily="34" charset="0"/>
                <a:ea typeface="Calibri" pitchFamily="34" charset="-122"/>
                <a:cs typeface="Calibri" pitchFamily="34" charset="-120"/>
              </a:rPr>
              <a:t>yetkilendirme</a:t>
            </a:r>
            <a:endParaRPr lang="en-US" sz="1200" dirty="0"/>
          </a:p>
        </p:txBody>
      </p:sp>
      <p:sp>
        <p:nvSpPr>
          <p:cNvPr id="28" name="Text 23"/>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29" name="Text 24"/>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Veritabanı Mimarimiz</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MySQL · 9 tablo · ER diyagramı</a:t>
            </a:r>
            <a:endParaRPr lang="en-US" sz="1300" dirty="0"/>
          </a:p>
        </p:txBody>
      </p:sp>
      <p:sp>
        <p:nvSpPr>
          <p:cNvPr id="4" name="Shape 2"/>
          <p:cNvSpPr/>
          <p:nvPr/>
        </p:nvSpPr>
        <p:spPr>
          <a:xfrm>
            <a:off x="548640" y="1234440"/>
            <a:ext cx="5394960" cy="3383280"/>
          </a:xfrm>
          <a:prstGeom prst="rect">
            <a:avLst/>
          </a:prstGeom>
          <a:solidFill>
            <a:srgbClr val="FAFAFA"/>
          </a:solidFill>
          <a:ln w="19050">
            <a:solidFill>
              <a:srgbClr val="B0B5BD"/>
            </a:solidFill>
            <a:prstDash val="dash"/>
          </a:ln>
        </p:spPr>
      </p:sp>
      <p:sp>
        <p:nvSpPr>
          <p:cNvPr id="5" name="Text 3"/>
          <p:cNvSpPr txBox="1"/>
          <p:nvPr/>
        </p:nvSpPr>
        <p:spPr>
          <a:xfrm>
            <a:off x="731520" y="2286000"/>
            <a:ext cx="5029200" cy="128016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ER diyagramı ekran görüntüsü</a:t>
            </a:r>
            <a:endParaRPr lang="en-US" sz="1600" dirty="0"/>
          </a:p>
          <a:p>
            <a:pPr algn="ctr" indent="0" marL="0">
              <a:buNone/>
            </a:pPr>
            <a:r>
              <a:rPr lang="en-US" sz="1200" dirty="0">
                <a:solidFill>
                  <a:srgbClr val="6B7280"/>
                </a:solidFill>
                <a:latin typeface="Calibri" pitchFamily="34" charset="0"/>
                <a:ea typeface="Calibri" pitchFamily="34" charset="-122"/>
                <a:cs typeface="Calibri" pitchFamily="34" charset="-120"/>
              </a:rPr>
              <a:t>MySQL Workbench &gt; Database &gt; Reverse Engineer</a:t>
            </a:r>
            <a:endParaRPr lang="en-US" sz="1600" dirty="0"/>
          </a:p>
          <a:p>
            <a:pPr algn="ctr" indent="0" marL="0">
              <a:buNone/>
            </a:pPr>
            <a:r>
              <a:rPr lang="en-US" sz="1200" dirty="0">
                <a:solidFill>
                  <a:srgbClr val="6B7280"/>
                </a:solidFill>
                <a:latin typeface="Calibri" pitchFamily="34" charset="0"/>
                <a:ea typeface="Calibri" pitchFamily="34" charset="-122"/>
                <a:cs typeface="Calibri" pitchFamily="34" charset="-120"/>
              </a:rPr>
              <a:t>Bu kutuyu silip görüntüyü buraya ekleyin</a:t>
            </a:r>
            <a:endParaRPr lang="en-US" sz="1600" dirty="0"/>
          </a:p>
        </p:txBody>
      </p:sp>
      <p:sp>
        <p:nvSpPr>
          <p:cNvPr id="6" name="Text 4"/>
          <p:cNvSpPr txBox="1"/>
          <p:nvPr/>
        </p:nvSpPr>
        <p:spPr>
          <a:xfrm>
            <a:off x="6217920" y="1234440"/>
            <a:ext cx="2377440" cy="27432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Tablolar</a:t>
            </a:r>
            <a:endParaRPr lang="en-US" sz="1500" dirty="0"/>
          </a:p>
        </p:txBody>
      </p:sp>
      <p:sp>
        <p:nvSpPr>
          <p:cNvPr id="7" name="Text 5"/>
          <p:cNvSpPr txBox="1"/>
          <p:nvPr/>
        </p:nvSpPr>
        <p:spPr>
          <a:xfrm>
            <a:off x="6217920" y="1600200"/>
            <a:ext cx="2468880" cy="2926080"/>
          </a:xfrm>
          <a:prstGeom prst="rect">
            <a:avLst/>
          </a:prstGeom>
          <a:noFill/>
          <a:ln/>
        </p:spPr>
        <p:txBody>
          <a:bodyPr wrap="square" lIns="0" tIns="0" rIns="0" bIns="0" rtlCol="0" anchor="t"/>
          <a:lstStyle/>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users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hesaplar ve roller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authors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yazarlar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categories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kategoriler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books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kitaplar (stok, fiyat)</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orders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siparişler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order_items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sipariş kalemleri</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favorites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favori kitaplar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reviews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puan ve yorumlar</a:t>
            </a:r>
            <a:endParaRPr lang="en-US" sz="1200" dirty="0"/>
          </a:p>
          <a:p>
            <a:pPr indent="0" marL="0">
              <a:spcAft>
                <a:spcPts val="600"/>
              </a:spcAft>
              <a:buNone/>
            </a:pPr>
            <a:r>
              <a:rPr lang="en-US" sz="1200" b="1" dirty="0">
                <a:solidFill>
                  <a:srgbClr val="F26A00"/>
                </a:solidFill>
                <a:latin typeface="Calibri" pitchFamily="34" charset="0"/>
                <a:ea typeface="Calibri" pitchFamily="34" charset="-122"/>
                <a:cs typeface="Calibri" pitchFamily="34" charset="-120"/>
              </a:rPr>
              <a:t>activity_logs</a:t>
            </a:r>
            <a:pPr indent="0" marL="0">
              <a:spcAft>
                <a:spcPts val="600"/>
              </a:spcAft>
              <a:buNone/>
            </a:pPr>
            <a:r>
              <a:rPr lang="en-US" sz="1200" dirty="0">
                <a:solidFill>
                  <a:srgbClr val="1F2937"/>
                </a:solidFill>
                <a:latin typeface="Calibri" pitchFamily="34" charset="0"/>
                <a:ea typeface="Calibri" pitchFamily="34" charset="-122"/>
                <a:cs typeface="Calibri" pitchFamily="34" charset="-120"/>
              </a:rPr>
              <a:t>  işlem kayıtları</a:t>
            </a:r>
            <a:endParaRPr lang="en-US" sz="1200" dirty="0"/>
          </a:p>
        </p:txBody>
      </p:sp>
      <p:sp>
        <p:nvSpPr>
          <p:cNvPr id="8" name="Text 6"/>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9" name="Text 7"/>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Veritabanı Tasarım Kararları</a:t>
            </a:r>
            <a:endParaRPr lang="en-US" sz="2800" dirty="0"/>
          </a:p>
        </p:txBody>
      </p:sp>
      <p:sp>
        <p:nvSpPr>
          <p:cNvPr id="3" name="Shape 1"/>
          <p:cNvSpPr/>
          <p:nvPr/>
        </p:nvSpPr>
        <p:spPr>
          <a:xfrm>
            <a:off x="548640" y="1097280"/>
            <a:ext cx="2560320" cy="1645920"/>
          </a:xfrm>
          <a:prstGeom prst="roundRect">
            <a:avLst>
              <a:gd name="adj" fmla="val 6667"/>
            </a:avLst>
          </a:prstGeom>
          <a:solidFill>
            <a:srgbClr val="F4F4F5"/>
          </a:solidFill>
          <a:ln w="12700">
            <a:solidFill>
              <a:srgbClr val="F4F4F5"/>
            </a:solidFill>
            <a:prstDash val="solid"/>
          </a:ln>
        </p:spPr>
      </p:sp>
      <p:sp>
        <p:nvSpPr>
          <p:cNvPr id="4" name="Shape 2"/>
          <p:cNvSpPr/>
          <p:nvPr/>
        </p:nvSpPr>
        <p:spPr>
          <a:xfrm>
            <a:off x="731520" y="1261872"/>
            <a:ext cx="384048" cy="384048"/>
          </a:xfrm>
          <a:prstGeom prst="ellipse">
            <a:avLst/>
          </a:prstGeom>
          <a:solidFill>
            <a:srgbClr val="F26A00"/>
          </a:solidFill>
          <a:ln w="12700">
            <a:solidFill>
              <a:srgbClr val="F26A00"/>
            </a:solidFill>
            <a:prstDash val="solid"/>
          </a:ln>
        </p:spPr>
      </p:sp>
      <p:pic>
        <p:nvPicPr>
          <p:cNvPr id="5" name="Image 0" descr="preencoded.png">    </p:cNvPr>
          <p:cNvPicPr>
            <a:picLocks noChangeAspect="1"/>
          </p:cNvPicPr>
          <p:nvPr/>
        </p:nvPicPr>
        <p:blipFill>
          <a:blip r:embed="rId1"/>
          <a:stretch>
            <a:fillRect/>
          </a:stretch>
        </p:blipFill>
        <p:spPr>
          <a:xfrm>
            <a:off x="827532" y="1357884"/>
            <a:ext cx="192024" cy="192024"/>
          </a:xfrm>
          <a:prstGeom prst="rect">
            <a:avLst/>
          </a:prstGeom>
        </p:spPr>
      </p:pic>
      <p:sp>
        <p:nvSpPr>
          <p:cNvPr id="6" name="Text 3"/>
          <p:cNvSpPr txBox="1"/>
          <p:nvPr/>
        </p:nvSpPr>
        <p:spPr>
          <a:xfrm>
            <a:off x="1207008" y="126187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Soft delete</a:t>
            </a:r>
            <a:endParaRPr lang="en-US" sz="1400" dirty="0"/>
          </a:p>
        </p:txBody>
      </p:sp>
      <p:sp>
        <p:nvSpPr>
          <p:cNvPr id="7" name="Text 4"/>
          <p:cNvSpPr txBox="1"/>
          <p:nvPr/>
        </p:nvSpPr>
        <p:spPr>
          <a:xfrm>
            <a:off x="731520" y="175564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Kullanıcı ve kitap silinince kayıt kalır (deleted_at); eski siparişler bozulmaz.</a:t>
            </a:r>
            <a:endParaRPr lang="en-US" sz="1150" dirty="0"/>
          </a:p>
        </p:txBody>
      </p:sp>
      <p:sp>
        <p:nvSpPr>
          <p:cNvPr id="8" name="Shape 5"/>
          <p:cNvSpPr/>
          <p:nvPr/>
        </p:nvSpPr>
        <p:spPr>
          <a:xfrm>
            <a:off x="3291840" y="1097280"/>
            <a:ext cx="2560320" cy="1645920"/>
          </a:xfrm>
          <a:prstGeom prst="roundRect">
            <a:avLst>
              <a:gd name="adj" fmla="val 6667"/>
            </a:avLst>
          </a:prstGeom>
          <a:solidFill>
            <a:srgbClr val="F4F4F5"/>
          </a:solidFill>
          <a:ln w="12700">
            <a:solidFill>
              <a:srgbClr val="F4F4F5"/>
            </a:solidFill>
            <a:prstDash val="solid"/>
          </a:ln>
        </p:spPr>
      </p:sp>
      <p:sp>
        <p:nvSpPr>
          <p:cNvPr id="9" name="Shape 6"/>
          <p:cNvSpPr/>
          <p:nvPr/>
        </p:nvSpPr>
        <p:spPr>
          <a:xfrm>
            <a:off x="3474720" y="1261872"/>
            <a:ext cx="384048" cy="384048"/>
          </a:xfrm>
          <a:prstGeom prst="ellipse">
            <a:avLst/>
          </a:prstGeom>
          <a:solidFill>
            <a:srgbClr val="F26A00"/>
          </a:solidFill>
          <a:ln w="12700">
            <a:solidFill>
              <a:srgbClr val="F26A00"/>
            </a:solidFill>
            <a:prstDash val="solid"/>
          </a:ln>
        </p:spPr>
      </p:sp>
      <p:pic>
        <p:nvPicPr>
          <p:cNvPr id="10" name="Image 1" descr="preencoded.png">    </p:cNvPr>
          <p:cNvPicPr>
            <a:picLocks noChangeAspect="1"/>
          </p:cNvPicPr>
          <p:nvPr/>
        </p:nvPicPr>
        <p:blipFill>
          <a:blip r:embed="rId2"/>
          <a:stretch>
            <a:fillRect/>
          </a:stretch>
        </p:blipFill>
        <p:spPr>
          <a:xfrm>
            <a:off x="3570732" y="1357884"/>
            <a:ext cx="192024" cy="192024"/>
          </a:xfrm>
          <a:prstGeom prst="rect">
            <a:avLst/>
          </a:prstGeom>
        </p:spPr>
      </p:pic>
      <p:sp>
        <p:nvSpPr>
          <p:cNvPr id="11" name="Text 7"/>
          <p:cNvSpPr txBox="1"/>
          <p:nvPr/>
        </p:nvSpPr>
        <p:spPr>
          <a:xfrm>
            <a:off x="3950208" y="126187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Sipariş anı fiyatı</a:t>
            </a:r>
            <a:endParaRPr lang="en-US" sz="1400" dirty="0"/>
          </a:p>
        </p:txBody>
      </p:sp>
      <p:sp>
        <p:nvSpPr>
          <p:cNvPr id="12" name="Text 8"/>
          <p:cNvSpPr txBox="1"/>
          <p:nvPr/>
        </p:nvSpPr>
        <p:spPr>
          <a:xfrm>
            <a:off x="3474720" y="175564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order_items.unit_price fiyatı kopyalar; sonradan fiyat değişse de eski sipariş tutarı sabit kalır.</a:t>
            </a:r>
            <a:endParaRPr lang="en-US" sz="1150" dirty="0"/>
          </a:p>
        </p:txBody>
      </p:sp>
      <p:sp>
        <p:nvSpPr>
          <p:cNvPr id="13" name="Shape 9"/>
          <p:cNvSpPr/>
          <p:nvPr/>
        </p:nvSpPr>
        <p:spPr>
          <a:xfrm>
            <a:off x="6035040" y="1097280"/>
            <a:ext cx="2560320" cy="1645920"/>
          </a:xfrm>
          <a:prstGeom prst="roundRect">
            <a:avLst>
              <a:gd name="adj" fmla="val 6667"/>
            </a:avLst>
          </a:prstGeom>
          <a:solidFill>
            <a:srgbClr val="F4F4F5"/>
          </a:solidFill>
          <a:ln w="12700">
            <a:solidFill>
              <a:srgbClr val="F4F4F5"/>
            </a:solidFill>
            <a:prstDash val="solid"/>
          </a:ln>
        </p:spPr>
      </p:sp>
      <p:sp>
        <p:nvSpPr>
          <p:cNvPr id="14" name="Shape 10"/>
          <p:cNvSpPr/>
          <p:nvPr/>
        </p:nvSpPr>
        <p:spPr>
          <a:xfrm>
            <a:off x="6217920" y="1261872"/>
            <a:ext cx="384048" cy="384048"/>
          </a:xfrm>
          <a:prstGeom prst="ellipse">
            <a:avLst/>
          </a:prstGeom>
          <a:solidFill>
            <a:srgbClr val="F26A00"/>
          </a:solidFill>
          <a:ln w="12700">
            <a:solidFill>
              <a:srgbClr val="F26A00"/>
            </a:solidFill>
            <a:prstDash val="solid"/>
          </a:ln>
        </p:spPr>
      </p:sp>
      <p:pic>
        <p:nvPicPr>
          <p:cNvPr id="15" name="Image 2" descr="preencoded.png">    </p:cNvPr>
          <p:cNvPicPr>
            <a:picLocks noChangeAspect="1"/>
          </p:cNvPicPr>
          <p:nvPr/>
        </p:nvPicPr>
        <p:blipFill>
          <a:blip r:embed="rId3"/>
          <a:stretch>
            <a:fillRect/>
          </a:stretch>
        </p:blipFill>
        <p:spPr>
          <a:xfrm>
            <a:off x="6313932" y="1357884"/>
            <a:ext cx="192024" cy="192024"/>
          </a:xfrm>
          <a:prstGeom prst="rect">
            <a:avLst/>
          </a:prstGeom>
        </p:spPr>
      </p:pic>
      <p:sp>
        <p:nvSpPr>
          <p:cNvPr id="16" name="Text 11"/>
          <p:cNvSpPr txBox="1"/>
          <p:nvPr/>
        </p:nvSpPr>
        <p:spPr>
          <a:xfrm>
            <a:off x="6693408" y="126187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İlişki kısıtları</a:t>
            </a:r>
            <a:endParaRPr lang="en-US" sz="1400" dirty="0"/>
          </a:p>
        </p:txBody>
      </p:sp>
      <p:sp>
        <p:nvSpPr>
          <p:cNvPr id="17" name="Text 12"/>
          <p:cNvSpPr txBox="1"/>
          <p:nvPr/>
        </p:nvSpPr>
        <p:spPr>
          <a:xfrm>
            <a:off x="6217920" y="175564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Kitabı olan yazar veya kategori silinemez (foreign key RESTRICT, API'de 409).</a:t>
            </a:r>
            <a:endParaRPr lang="en-US" sz="1150" dirty="0"/>
          </a:p>
        </p:txBody>
      </p:sp>
      <p:sp>
        <p:nvSpPr>
          <p:cNvPr id="18" name="Shape 13"/>
          <p:cNvSpPr/>
          <p:nvPr/>
        </p:nvSpPr>
        <p:spPr>
          <a:xfrm>
            <a:off x="548640" y="2880360"/>
            <a:ext cx="2560320" cy="1645920"/>
          </a:xfrm>
          <a:prstGeom prst="roundRect">
            <a:avLst>
              <a:gd name="adj" fmla="val 6667"/>
            </a:avLst>
          </a:prstGeom>
          <a:solidFill>
            <a:srgbClr val="F4F4F5"/>
          </a:solidFill>
          <a:ln w="12700">
            <a:solidFill>
              <a:srgbClr val="F4F4F5"/>
            </a:solidFill>
            <a:prstDash val="solid"/>
          </a:ln>
        </p:spPr>
      </p:sp>
      <p:sp>
        <p:nvSpPr>
          <p:cNvPr id="19" name="Shape 14"/>
          <p:cNvSpPr/>
          <p:nvPr/>
        </p:nvSpPr>
        <p:spPr>
          <a:xfrm>
            <a:off x="731520" y="3044952"/>
            <a:ext cx="384048" cy="384048"/>
          </a:xfrm>
          <a:prstGeom prst="ellipse">
            <a:avLst/>
          </a:prstGeom>
          <a:solidFill>
            <a:srgbClr val="F26A00"/>
          </a:solidFill>
          <a:ln w="12700">
            <a:solidFill>
              <a:srgbClr val="F26A00"/>
            </a:solidFill>
            <a:prstDash val="solid"/>
          </a:ln>
        </p:spPr>
      </p:sp>
      <p:pic>
        <p:nvPicPr>
          <p:cNvPr id="20" name="Image 3" descr="preencoded.png">    </p:cNvPr>
          <p:cNvPicPr>
            <a:picLocks noChangeAspect="1"/>
          </p:cNvPicPr>
          <p:nvPr/>
        </p:nvPicPr>
        <p:blipFill>
          <a:blip r:embed="rId4"/>
          <a:stretch>
            <a:fillRect/>
          </a:stretch>
        </p:blipFill>
        <p:spPr>
          <a:xfrm>
            <a:off x="827532" y="3140964"/>
            <a:ext cx="192024" cy="192024"/>
          </a:xfrm>
          <a:prstGeom prst="rect">
            <a:avLst/>
          </a:prstGeom>
        </p:spPr>
      </p:pic>
      <p:sp>
        <p:nvSpPr>
          <p:cNvPr id="21" name="Text 15"/>
          <p:cNvSpPr txBox="1"/>
          <p:nvPr/>
        </p:nvSpPr>
        <p:spPr>
          <a:xfrm>
            <a:off x="1207008" y="304495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Benzersizlik</a:t>
            </a:r>
            <a:endParaRPr lang="en-US" sz="1400" dirty="0"/>
          </a:p>
        </p:txBody>
      </p:sp>
      <p:sp>
        <p:nvSpPr>
          <p:cNvPr id="22" name="Text 16"/>
          <p:cNvSpPr txBox="1"/>
          <p:nvPr/>
        </p:nvSpPr>
        <p:spPr>
          <a:xfrm>
            <a:off x="731520" y="353872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E-posta, ISBN, sipariş numarası ve kullanıcı başına tek yorum veritabanında garanti.</a:t>
            </a:r>
            <a:endParaRPr lang="en-US" sz="1150" dirty="0"/>
          </a:p>
        </p:txBody>
      </p:sp>
      <p:sp>
        <p:nvSpPr>
          <p:cNvPr id="23" name="Shape 17"/>
          <p:cNvSpPr/>
          <p:nvPr/>
        </p:nvSpPr>
        <p:spPr>
          <a:xfrm>
            <a:off x="3291840" y="2880360"/>
            <a:ext cx="2560320" cy="1645920"/>
          </a:xfrm>
          <a:prstGeom prst="roundRect">
            <a:avLst>
              <a:gd name="adj" fmla="val 6667"/>
            </a:avLst>
          </a:prstGeom>
          <a:solidFill>
            <a:srgbClr val="F4F4F5"/>
          </a:solidFill>
          <a:ln w="12700">
            <a:solidFill>
              <a:srgbClr val="F4F4F5"/>
            </a:solidFill>
            <a:prstDash val="solid"/>
          </a:ln>
        </p:spPr>
      </p:sp>
      <p:sp>
        <p:nvSpPr>
          <p:cNvPr id="24" name="Shape 18"/>
          <p:cNvSpPr/>
          <p:nvPr/>
        </p:nvSpPr>
        <p:spPr>
          <a:xfrm>
            <a:off x="3474720" y="3044952"/>
            <a:ext cx="384048" cy="384048"/>
          </a:xfrm>
          <a:prstGeom prst="ellipse">
            <a:avLst/>
          </a:prstGeom>
          <a:solidFill>
            <a:srgbClr val="F26A00"/>
          </a:solidFill>
          <a:ln w="12700">
            <a:solidFill>
              <a:srgbClr val="F26A00"/>
            </a:solidFill>
            <a:prstDash val="solid"/>
          </a:ln>
        </p:spPr>
      </p:sp>
      <p:pic>
        <p:nvPicPr>
          <p:cNvPr id="25" name="Image 4" descr="preencoded.png">    </p:cNvPr>
          <p:cNvPicPr>
            <a:picLocks noChangeAspect="1"/>
          </p:cNvPicPr>
          <p:nvPr/>
        </p:nvPicPr>
        <p:blipFill>
          <a:blip r:embed="rId5"/>
          <a:stretch>
            <a:fillRect/>
          </a:stretch>
        </p:blipFill>
        <p:spPr>
          <a:xfrm>
            <a:off x="3570732" y="3140964"/>
            <a:ext cx="192024" cy="192024"/>
          </a:xfrm>
          <a:prstGeom prst="rect">
            <a:avLst/>
          </a:prstGeom>
        </p:spPr>
      </p:pic>
      <p:sp>
        <p:nvSpPr>
          <p:cNvPr id="26" name="Text 19"/>
          <p:cNvSpPr txBox="1"/>
          <p:nvPr/>
        </p:nvSpPr>
        <p:spPr>
          <a:xfrm>
            <a:off x="3950208" y="304495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İşlem kayıtları</a:t>
            </a:r>
            <a:endParaRPr lang="en-US" sz="1400" dirty="0"/>
          </a:p>
        </p:txBody>
      </p:sp>
      <p:sp>
        <p:nvSpPr>
          <p:cNvPr id="27" name="Text 20"/>
          <p:cNvSpPr txBox="1"/>
          <p:nvPr/>
        </p:nvSpPr>
        <p:spPr>
          <a:xfrm>
            <a:off x="3474720" y="353872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activity_logs: kim, ne zaman, hangi kayıt üzerinde hangi işlemi yaptı.</a:t>
            </a:r>
            <a:endParaRPr lang="en-US" sz="1150" dirty="0"/>
          </a:p>
        </p:txBody>
      </p:sp>
      <p:sp>
        <p:nvSpPr>
          <p:cNvPr id="28" name="Shape 21"/>
          <p:cNvSpPr/>
          <p:nvPr/>
        </p:nvSpPr>
        <p:spPr>
          <a:xfrm>
            <a:off x="6035040" y="2880360"/>
            <a:ext cx="2560320" cy="1645920"/>
          </a:xfrm>
          <a:prstGeom prst="roundRect">
            <a:avLst>
              <a:gd name="adj" fmla="val 6667"/>
            </a:avLst>
          </a:prstGeom>
          <a:solidFill>
            <a:srgbClr val="F4F4F5"/>
          </a:solidFill>
          <a:ln w="12700">
            <a:solidFill>
              <a:srgbClr val="F4F4F5"/>
            </a:solidFill>
            <a:prstDash val="solid"/>
          </a:ln>
        </p:spPr>
      </p:sp>
      <p:sp>
        <p:nvSpPr>
          <p:cNvPr id="29" name="Shape 22"/>
          <p:cNvSpPr/>
          <p:nvPr/>
        </p:nvSpPr>
        <p:spPr>
          <a:xfrm>
            <a:off x="6217920" y="3044952"/>
            <a:ext cx="384048" cy="384048"/>
          </a:xfrm>
          <a:prstGeom prst="ellipse">
            <a:avLst/>
          </a:prstGeom>
          <a:solidFill>
            <a:srgbClr val="F26A00"/>
          </a:solidFill>
          <a:ln w="12700">
            <a:solidFill>
              <a:srgbClr val="F26A00"/>
            </a:solidFill>
            <a:prstDash val="solid"/>
          </a:ln>
        </p:spPr>
      </p:sp>
      <p:pic>
        <p:nvPicPr>
          <p:cNvPr id="30" name="Image 5" descr="preencoded.png">    </p:cNvPr>
          <p:cNvPicPr>
            <a:picLocks noChangeAspect="1"/>
          </p:cNvPicPr>
          <p:nvPr/>
        </p:nvPicPr>
        <p:blipFill>
          <a:blip r:embed="rId6"/>
          <a:stretch>
            <a:fillRect/>
          </a:stretch>
        </p:blipFill>
        <p:spPr>
          <a:xfrm>
            <a:off x="6313932" y="3140964"/>
            <a:ext cx="192024" cy="192024"/>
          </a:xfrm>
          <a:prstGeom prst="rect">
            <a:avLst/>
          </a:prstGeom>
        </p:spPr>
      </p:pic>
      <p:sp>
        <p:nvSpPr>
          <p:cNvPr id="31" name="Text 23"/>
          <p:cNvSpPr txBox="1"/>
          <p:nvPr/>
        </p:nvSpPr>
        <p:spPr>
          <a:xfrm>
            <a:off x="6693408" y="3044952"/>
            <a:ext cx="18288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Güvenli saklama</a:t>
            </a:r>
            <a:endParaRPr lang="en-US" sz="1400" dirty="0"/>
          </a:p>
        </p:txBody>
      </p:sp>
      <p:sp>
        <p:nvSpPr>
          <p:cNvPr id="32" name="Text 24"/>
          <p:cNvSpPr txBox="1"/>
          <p:nvPr/>
        </p:nvSpPr>
        <p:spPr>
          <a:xfrm>
            <a:off x="6217920" y="3538728"/>
            <a:ext cx="2240280"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Şifreler bcrypt, token'lar SHA-256 hash olarak saklanır; ham değer tutulmaz.</a:t>
            </a:r>
            <a:endParaRPr lang="en-US" sz="1150" dirty="0"/>
          </a:p>
        </p:txBody>
      </p:sp>
      <p:sp>
        <p:nvSpPr>
          <p:cNvPr id="33" name="Text 25"/>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34" name="Text 26"/>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REST API</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Metot + adres = eylem · durum kodu = sonuç</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94960" cy="914400"/>
        </p:xfrm>
        <a:graphic>
          <a:graphicData uri="http://schemas.openxmlformats.org/drawingml/2006/table">
            <a:tbl>
              <a:tblPr/>
              <a:tblGrid>
                <a:gridCol w="777240"/>
                <a:gridCol w="2011680"/>
                <a:gridCol w="2057400"/>
                <a:gridCol w="5486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Metot</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1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Adres</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1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Açıklama</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11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Kod</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114"/>
                    </a:solidFill>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GET</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/api/books</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Kitap listesi (filtre, sayfalama)</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POST</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/api/auth/login</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Giriş, token döner</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POST</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/api/orders</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Sipariş oluştur</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POST</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/api/books/{id}/reviews</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Yorum ekle</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PUT</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/api/admin/books/{id}</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Kitap güncelle (yönetici)</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PATCH</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/api/admin/orders/{id}/status</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Sipariş durumu (yönetici)</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50" b="1" dirty="0">
                          <a:solidFill>
                            <a:srgbClr val="F26A00"/>
                          </a:solidFill>
                          <a:latin typeface="Courier New" pitchFamily="34" charset="0"/>
                          <a:ea typeface="Courier New" pitchFamily="34" charset="-122"/>
                          <a:cs typeface="Courier New" pitchFamily="34" charset="-120"/>
                        </a:rPr>
                        <a:t>DELETE</a:t>
                      </a:r>
                      <a:endParaRPr lang="en-US" sz="105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/api/admin/books/{id}</a:t>
                      </a:r>
                      <a:endParaRPr lang="en-US" sz="1000" dirty="0">
                        <a:latin typeface="Courier New" charset="0"/>
                        <a:ea typeface="Courier New" charset="0"/>
                        <a:cs typeface="Courier New"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Kitap sil (soft delete)</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204</a:t>
                      </a:r>
                      <a:endParaRPr lang="en-US" sz="1100" dirty="0">
                        <a:latin typeface="Calibri" charset="0"/>
                        <a:ea typeface="Calibri" charset="0"/>
                        <a:cs typeface="Calibri" charset="0"/>
                      </a:endParaRPr>
                    </a:p>
                  </a:txBody>
                  <a:tcPr marL="73152" marR="73152"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5" name="Text 2"/>
          <p:cNvSpPr txBox="1"/>
          <p:nvPr/>
        </p:nvSpPr>
        <p:spPr>
          <a:xfrm>
            <a:off x="6263640" y="1280160"/>
            <a:ext cx="23774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Hata durum kodları</a:t>
            </a:r>
            <a:endParaRPr lang="en-US" sz="1400" dirty="0"/>
          </a:p>
        </p:txBody>
      </p:sp>
      <p:sp>
        <p:nvSpPr>
          <p:cNvPr id="6" name="Shape 3"/>
          <p:cNvSpPr/>
          <p:nvPr/>
        </p:nvSpPr>
        <p:spPr>
          <a:xfrm>
            <a:off x="6263640" y="1645920"/>
            <a:ext cx="2331720" cy="502920"/>
          </a:xfrm>
          <a:prstGeom prst="roundRect">
            <a:avLst>
              <a:gd name="adj" fmla="val 21818"/>
            </a:avLst>
          </a:prstGeom>
          <a:solidFill>
            <a:srgbClr val="F4F4F5"/>
          </a:solidFill>
          <a:ln w="12700">
            <a:solidFill>
              <a:srgbClr val="F4F4F5"/>
            </a:solidFill>
            <a:prstDash val="solid"/>
          </a:ln>
        </p:spPr>
      </p:sp>
      <p:sp>
        <p:nvSpPr>
          <p:cNvPr id="7" name="Text 4"/>
          <p:cNvSpPr txBox="1"/>
          <p:nvPr/>
        </p:nvSpPr>
        <p:spPr>
          <a:xfrm>
            <a:off x="6355080" y="1645920"/>
            <a:ext cx="548640" cy="502920"/>
          </a:xfrm>
          <a:prstGeom prst="rect">
            <a:avLst/>
          </a:prstGeom>
          <a:noFill/>
          <a:ln/>
        </p:spPr>
        <p:txBody>
          <a:bodyPr wrap="square" lIns="0" tIns="0" rIns="0" bIns="0" rtlCol="0" anchor="ctr"/>
          <a:lstStyle/>
          <a:p>
            <a:pPr indent="0" marL="0">
              <a:buNone/>
            </a:pPr>
            <a:r>
              <a:rPr lang="en-US" sz="1700" b="1" dirty="0">
                <a:solidFill>
                  <a:srgbClr val="F26A00"/>
                </a:solidFill>
                <a:latin typeface="Cambria" pitchFamily="34" charset="0"/>
                <a:ea typeface="Cambria" pitchFamily="34" charset="-122"/>
                <a:cs typeface="Cambria" pitchFamily="34" charset="-120"/>
              </a:rPr>
              <a:t>401</a:t>
            </a:r>
            <a:endParaRPr lang="en-US" sz="1700" dirty="0"/>
          </a:p>
        </p:txBody>
      </p:sp>
      <p:sp>
        <p:nvSpPr>
          <p:cNvPr id="8" name="Text 5"/>
          <p:cNvSpPr txBox="1"/>
          <p:nvPr/>
        </p:nvSpPr>
        <p:spPr>
          <a:xfrm>
            <a:off x="6949440" y="1645920"/>
            <a:ext cx="1600200" cy="5029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Kimlik doğrulanamadı</a:t>
            </a:r>
            <a:endParaRPr lang="en-US" sz="1150" dirty="0"/>
          </a:p>
        </p:txBody>
      </p:sp>
      <p:sp>
        <p:nvSpPr>
          <p:cNvPr id="9" name="Shape 6"/>
          <p:cNvSpPr/>
          <p:nvPr/>
        </p:nvSpPr>
        <p:spPr>
          <a:xfrm>
            <a:off x="6263640" y="2249424"/>
            <a:ext cx="2331720" cy="502920"/>
          </a:xfrm>
          <a:prstGeom prst="roundRect">
            <a:avLst>
              <a:gd name="adj" fmla="val 21818"/>
            </a:avLst>
          </a:prstGeom>
          <a:solidFill>
            <a:srgbClr val="F4F4F5"/>
          </a:solidFill>
          <a:ln w="12700">
            <a:solidFill>
              <a:srgbClr val="F4F4F5"/>
            </a:solidFill>
            <a:prstDash val="solid"/>
          </a:ln>
        </p:spPr>
      </p:sp>
      <p:sp>
        <p:nvSpPr>
          <p:cNvPr id="10" name="Text 7"/>
          <p:cNvSpPr txBox="1"/>
          <p:nvPr/>
        </p:nvSpPr>
        <p:spPr>
          <a:xfrm>
            <a:off x="6355080" y="2249424"/>
            <a:ext cx="548640" cy="502920"/>
          </a:xfrm>
          <a:prstGeom prst="rect">
            <a:avLst/>
          </a:prstGeom>
          <a:noFill/>
          <a:ln/>
        </p:spPr>
        <p:txBody>
          <a:bodyPr wrap="square" lIns="0" tIns="0" rIns="0" bIns="0" rtlCol="0" anchor="ctr"/>
          <a:lstStyle/>
          <a:p>
            <a:pPr indent="0" marL="0">
              <a:buNone/>
            </a:pPr>
            <a:r>
              <a:rPr lang="en-US" sz="1700" b="1" dirty="0">
                <a:solidFill>
                  <a:srgbClr val="F26A00"/>
                </a:solidFill>
                <a:latin typeface="Cambria" pitchFamily="34" charset="0"/>
                <a:ea typeface="Cambria" pitchFamily="34" charset="-122"/>
                <a:cs typeface="Cambria" pitchFamily="34" charset="-120"/>
              </a:rPr>
              <a:t>403</a:t>
            </a:r>
            <a:endParaRPr lang="en-US" sz="1700" dirty="0"/>
          </a:p>
        </p:txBody>
      </p:sp>
      <p:sp>
        <p:nvSpPr>
          <p:cNvPr id="11" name="Text 8"/>
          <p:cNvSpPr txBox="1"/>
          <p:nvPr/>
        </p:nvSpPr>
        <p:spPr>
          <a:xfrm>
            <a:off x="6949440" y="2249424"/>
            <a:ext cx="1600200" cy="5029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Yetkin yok</a:t>
            </a:r>
            <a:endParaRPr lang="en-US" sz="1150" dirty="0"/>
          </a:p>
        </p:txBody>
      </p:sp>
      <p:sp>
        <p:nvSpPr>
          <p:cNvPr id="12" name="Shape 9"/>
          <p:cNvSpPr/>
          <p:nvPr/>
        </p:nvSpPr>
        <p:spPr>
          <a:xfrm>
            <a:off x="6263640" y="2852928"/>
            <a:ext cx="2331720" cy="502920"/>
          </a:xfrm>
          <a:prstGeom prst="roundRect">
            <a:avLst>
              <a:gd name="adj" fmla="val 21818"/>
            </a:avLst>
          </a:prstGeom>
          <a:solidFill>
            <a:srgbClr val="F4F4F5"/>
          </a:solidFill>
          <a:ln w="12700">
            <a:solidFill>
              <a:srgbClr val="F4F4F5"/>
            </a:solidFill>
            <a:prstDash val="solid"/>
          </a:ln>
        </p:spPr>
      </p:sp>
      <p:sp>
        <p:nvSpPr>
          <p:cNvPr id="13" name="Text 10"/>
          <p:cNvSpPr txBox="1"/>
          <p:nvPr/>
        </p:nvSpPr>
        <p:spPr>
          <a:xfrm>
            <a:off x="6355080" y="2852928"/>
            <a:ext cx="548640" cy="502920"/>
          </a:xfrm>
          <a:prstGeom prst="rect">
            <a:avLst/>
          </a:prstGeom>
          <a:noFill/>
          <a:ln/>
        </p:spPr>
        <p:txBody>
          <a:bodyPr wrap="square" lIns="0" tIns="0" rIns="0" bIns="0" rtlCol="0" anchor="ctr"/>
          <a:lstStyle/>
          <a:p>
            <a:pPr indent="0" marL="0">
              <a:buNone/>
            </a:pPr>
            <a:r>
              <a:rPr lang="en-US" sz="1700" b="1" dirty="0">
                <a:solidFill>
                  <a:srgbClr val="F26A00"/>
                </a:solidFill>
                <a:latin typeface="Cambria" pitchFamily="34" charset="0"/>
                <a:ea typeface="Cambria" pitchFamily="34" charset="-122"/>
                <a:cs typeface="Cambria" pitchFamily="34" charset="-120"/>
              </a:rPr>
              <a:t>404</a:t>
            </a:r>
            <a:endParaRPr lang="en-US" sz="1700" dirty="0"/>
          </a:p>
        </p:txBody>
      </p:sp>
      <p:sp>
        <p:nvSpPr>
          <p:cNvPr id="14" name="Text 11"/>
          <p:cNvSpPr txBox="1"/>
          <p:nvPr/>
        </p:nvSpPr>
        <p:spPr>
          <a:xfrm>
            <a:off x="6949440" y="2852928"/>
            <a:ext cx="1600200" cy="5029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Kayıt yok</a:t>
            </a:r>
            <a:endParaRPr lang="en-US" sz="1150" dirty="0"/>
          </a:p>
        </p:txBody>
      </p:sp>
      <p:sp>
        <p:nvSpPr>
          <p:cNvPr id="15" name="Shape 12"/>
          <p:cNvSpPr/>
          <p:nvPr/>
        </p:nvSpPr>
        <p:spPr>
          <a:xfrm>
            <a:off x="6263640" y="3456432"/>
            <a:ext cx="2331720" cy="502920"/>
          </a:xfrm>
          <a:prstGeom prst="roundRect">
            <a:avLst>
              <a:gd name="adj" fmla="val 21818"/>
            </a:avLst>
          </a:prstGeom>
          <a:solidFill>
            <a:srgbClr val="F4F4F5"/>
          </a:solidFill>
          <a:ln w="12700">
            <a:solidFill>
              <a:srgbClr val="F4F4F5"/>
            </a:solidFill>
            <a:prstDash val="solid"/>
          </a:ln>
        </p:spPr>
      </p:sp>
      <p:sp>
        <p:nvSpPr>
          <p:cNvPr id="16" name="Text 13"/>
          <p:cNvSpPr txBox="1"/>
          <p:nvPr/>
        </p:nvSpPr>
        <p:spPr>
          <a:xfrm>
            <a:off x="6355080" y="3456432"/>
            <a:ext cx="548640" cy="502920"/>
          </a:xfrm>
          <a:prstGeom prst="rect">
            <a:avLst/>
          </a:prstGeom>
          <a:noFill/>
          <a:ln/>
        </p:spPr>
        <p:txBody>
          <a:bodyPr wrap="square" lIns="0" tIns="0" rIns="0" bIns="0" rtlCol="0" anchor="ctr"/>
          <a:lstStyle/>
          <a:p>
            <a:pPr indent="0" marL="0">
              <a:buNone/>
            </a:pPr>
            <a:r>
              <a:rPr lang="en-US" sz="1700" b="1" dirty="0">
                <a:solidFill>
                  <a:srgbClr val="F26A00"/>
                </a:solidFill>
                <a:latin typeface="Cambria" pitchFamily="34" charset="0"/>
                <a:ea typeface="Cambria" pitchFamily="34" charset="-122"/>
                <a:cs typeface="Cambria" pitchFamily="34" charset="-120"/>
              </a:rPr>
              <a:t>409</a:t>
            </a:r>
            <a:endParaRPr lang="en-US" sz="1700" dirty="0"/>
          </a:p>
        </p:txBody>
      </p:sp>
      <p:sp>
        <p:nvSpPr>
          <p:cNvPr id="17" name="Text 14"/>
          <p:cNvSpPr txBox="1"/>
          <p:nvPr/>
        </p:nvSpPr>
        <p:spPr>
          <a:xfrm>
            <a:off x="6949440" y="3456432"/>
            <a:ext cx="1600200" cy="5029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İş kuralı (ör. stok)</a:t>
            </a:r>
            <a:endParaRPr lang="en-US" sz="1150" dirty="0"/>
          </a:p>
        </p:txBody>
      </p:sp>
      <p:sp>
        <p:nvSpPr>
          <p:cNvPr id="18" name="Shape 15"/>
          <p:cNvSpPr/>
          <p:nvPr/>
        </p:nvSpPr>
        <p:spPr>
          <a:xfrm>
            <a:off x="6263640" y="4059936"/>
            <a:ext cx="2331720" cy="502920"/>
          </a:xfrm>
          <a:prstGeom prst="roundRect">
            <a:avLst>
              <a:gd name="adj" fmla="val 21818"/>
            </a:avLst>
          </a:prstGeom>
          <a:solidFill>
            <a:srgbClr val="F4F4F5"/>
          </a:solidFill>
          <a:ln w="12700">
            <a:solidFill>
              <a:srgbClr val="F4F4F5"/>
            </a:solidFill>
            <a:prstDash val="solid"/>
          </a:ln>
        </p:spPr>
      </p:sp>
      <p:sp>
        <p:nvSpPr>
          <p:cNvPr id="19" name="Text 16"/>
          <p:cNvSpPr txBox="1"/>
          <p:nvPr/>
        </p:nvSpPr>
        <p:spPr>
          <a:xfrm>
            <a:off x="6355080" y="4059936"/>
            <a:ext cx="548640" cy="502920"/>
          </a:xfrm>
          <a:prstGeom prst="rect">
            <a:avLst/>
          </a:prstGeom>
          <a:noFill/>
          <a:ln/>
        </p:spPr>
        <p:txBody>
          <a:bodyPr wrap="square" lIns="0" tIns="0" rIns="0" bIns="0" rtlCol="0" anchor="ctr"/>
          <a:lstStyle/>
          <a:p>
            <a:pPr indent="0" marL="0">
              <a:buNone/>
            </a:pPr>
            <a:r>
              <a:rPr lang="en-US" sz="1700" b="1" dirty="0">
                <a:solidFill>
                  <a:srgbClr val="F26A00"/>
                </a:solidFill>
                <a:latin typeface="Cambria" pitchFamily="34" charset="0"/>
                <a:ea typeface="Cambria" pitchFamily="34" charset="-122"/>
                <a:cs typeface="Cambria" pitchFamily="34" charset="-120"/>
              </a:rPr>
              <a:t>422</a:t>
            </a:r>
            <a:endParaRPr lang="en-US" sz="1700" dirty="0"/>
          </a:p>
        </p:txBody>
      </p:sp>
      <p:sp>
        <p:nvSpPr>
          <p:cNvPr id="20" name="Text 17"/>
          <p:cNvSpPr txBox="1"/>
          <p:nvPr/>
        </p:nvSpPr>
        <p:spPr>
          <a:xfrm>
            <a:off x="6949440" y="4059936"/>
            <a:ext cx="1600200" cy="50292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Geçersiz veri</a:t>
            </a:r>
            <a:endParaRPr lang="en-US" sz="1150" dirty="0"/>
          </a:p>
        </p:txBody>
      </p:sp>
      <p:sp>
        <p:nvSpPr>
          <p:cNvPr id="21" name="Text 18"/>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22" name="Text 19"/>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Kimlik Doğrulama ve Yetkilendirme</a:t>
            </a:r>
            <a:endParaRPr lang="en-US" sz="2800" dirty="0"/>
          </a:p>
        </p:txBody>
      </p:sp>
      <p:sp>
        <p:nvSpPr>
          <p:cNvPr id="3" name="Shape 1"/>
          <p:cNvSpPr/>
          <p:nvPr/>
        </p:nvSpPr>
        <p:spPr>
          <a:xfrm>
            <a:off x="1005840" y="1234440"/>
            <a:ext cx="548640" cy="548640"/>
          </a:xfrm>
          <a:prstGeom prst="ellipse">
            <a:avLst/>
          </a:prstGeom>
          <a:solidFill>
            <a:srgbClr val="F26A00"/>
          </a:solidFill>
          <a:ln w="12700">
            <a:solidFill>
              <a:srgbClr val="F26A00"/>
            </a:solidFill>
            <a:prstDash val="solid"/>
          </a:ln>
        </p:spPr>
      </p:sp>
      <p:sp>
        <p:nvSpPr>
          <p:cNvPr id="4" name="Text 2"/>
          <p:cNvSpPr txBox="1"/>
          <p:nvPr/>
        </p:nvSpPr>
        <p:spPr>
          <a:xfrm>
            <a:off x="1005840"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Shape 3"/>
          <p:cNvSpPr/>
          <p:nvPr/>
        </p:nvSpPr>
        <p:spPr>
          <a:xfrm>
            <a:off x="1600200" y="1508760"/>
            <a:ext cx="1078992" cy="0"/>
          </a:xfrm>
          <a:prstGeom prst="line">
            <a:avLst/>
          </a:prstGeom>
          <a:noFill/>
          <a:ln w="19050">
            <a:solidFill>
              <a:srgbClr val="B0B5BD"/>
            </a:solidFill>
            <a:prstDash val="solid"/>
            <a:tailEnd type="triangle"/>
          </a:ln>
        </p:spPr>
      </p:sp>
      <p:sp>
        <p:nvSpPr>
          <p:cNvPr id="6" name="Text 4"/>
          <p:cNvSpPr txBox="1"/>
          <p:nvPr/>
        </p:nvSpPr>
        <p:spPr>
          <a:xfrm>
            <a:off x="502920" y="1874520"/>
            <a:ext cx="1554480" cy="59436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Giriş isteği</a:t>
            </a:r>
            <a:endParaRPr lang="en-US" sz="1250" dirty="0"/>
          </a:p>
          <a:p>
            <a:pPr algn="ctr" indent="0" marL="0">
              <a:buNone/>
            </a:pPr>
            <a:r>
              <a:rPr lang="en-US" sz="1100" dirty="0">
                <a:solidFill>
                  <a:srgbClr val="6B7280"/>
                </a:solidFill>
                <a:latin typeface="Calibri" pitchFamily="34" charset="0"/>
                <a:ea typeface="Calibri" pitchFamily="34" charset="-122"/>
                <a:cs typeface="Calibri" pitchFamily="34" charset="-120"/>
              </a:rPr>
              <a:t>e-posta + şifre</a:t>
            </a:r>
            <a:endParaRPr lang="en-US" sz="1250" dirty="0"/>
          </a:p>
        </p:txBody>
      </p:sp>
      <p:sp>
        <p:nvSpPr>
          <p:cNvPr id="7" name="Shape 5"/>
          <p:cNvSpPr/>
          <p:nvPr/>
        </p:nvSpPr>
        <p:spPr>
          <a:xfrm>
            <a:off x="2633472" y="1234440"/>
            <a:ext cx="548640" cy="548640"/>
          </a:xfrm>
          <a:prstGeom prst="ellipse">
            <a:avLst/>
          </a:prstGeom>
          <a:solidFill>
            <a:srgbClr val="F26A00"/>
          </a:solidFill>
          <a:ln w="12700">
            <a:solidFill>
              <a:srgbClr val="F26A00"/>
            </a:solidFill>
            <a:prstDash val="solid"/>
          </a:ln>
        </p:spPr>
      </p:sp>
      <p:sp>
        <p:nvSpPr>
          <p:cNvPr id="8" name="Text 6"/>
          <p:cNvSpPr txBox="1"/>
          <p:nvPr/>
        </p:nvSpPr>
        <p:spPr>
          <a:xfrm>
            <a:off x="2633472"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Shape 7"/>
          <p:cNvSpPr/>
          <p:nvPr/>
        </p:nvSpPr>
        <p:spPr>
          <a:xfrm>
            <a:off x="3227832" y="1508760"/>
            <a:ext cx="1078992" cy="0"/>
          </a:xfrm>
          <a:prstGeom prst="line">
            <a:avLst/>
          </a:prstGeom>
          <a:noFill/>
          <a:ln w="19050">
            <a:solidFill>
              <a:srgbClr val="B0B5BD"/>
            </a:solidFill>
            <a:prstDash val="solid"/>
            <a:tailEnd type="triangle"/>
          </a:ln>
        </p:spPr>
      </p:sp>
      <p:sp>
        <p:nvSpPr>
          <p:cNvPr id="10" name="Text 8"/>
          <p:cNvSpPr txBox="1"/>
          <p:nvPr/>
        </p:nvSpPr>
        <p:spPr>
          <a:xfrm>
            <a:off x="2130552" y="1874520"/>
            <a:ext cx="1554480" cy="59436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Kullanıcı kontrolü</a:t>
            </a:r>
            <a:endParaRPr lang="en-US" sz="1250" dirty="0"/>
          </a:p>
          <a:p>
            <a:pPr algn="ctr" indent="0" marL="0">
              <a:buNone/>
            </a:pPr>
            <a:r>
              <a:rPr lang="en-US" sz="1100" dirty="0">
                <a:solidFill>
                  <a:srgbClr val="6B7280"/>
                </a:solidFill>
                <a:latin typeface="Calibri" pitchFamily="34" charset="0"/>
                <a:ea typeface="Calibri" pitchFamily="34" charset="-122"/>
                <a:cs typeface="Calibri" pitchFamily="34" charset="-120"/>
              </a:rPr>
              <a:t>veritabanında aranır</a:t>
            </a:r>
            <a:endParaRPr lang="en-US" sz="1250" dirty="0"/>
          </a:p>
        </p:txBody>
      </p:sp>
      <p:sp>
        <p:nvSpPr>
          <p:cNvPr id="11" name="Shape 9"/>
          <p:cNvSpPr/>
          <p:nvPr/>
        </p:nvSpPr>
        <p:spPr>
          <a:xfrm>
            <a:off x="4261104" y="1234440"/>
            <a:ext cx="548640" cy="548640"/>
          </a:xfrm>
          <a:prstGeom prst="ellipse">
            <a:avLst/>
          </a:prstGeom>
          <a:solidFill>
            <a:srgbClr val="F26A00"/>
          </a:solidFill>
          <a:ln w="12700">
            <a:solidFill>
              <a:srgbClr val="F26A00"/>
            </a:solidFill>
            <a:prstDash val="solid"/>
          </a:ln>
        </p:spPr>
      </p:sp>
      <p:sp>
        <p:nvSpPr>
          <p:cNvPr id="12" name="Text 10"/>
          <p:cNvSpPr txBox="1"/>
          <p:nvPr/>
        </p:nvSpPr>
        <p:spPr>
          <a:xfrm>
            <a:off x="4261104"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Shape 11"/>
          <p:cNvSpPr/>
          <p:nvPr/>
        </p:nvSpPr>
        <p:spPr>
          <a:xfrm>
            <a:off x="4855464" y="1508760"/>
            <a:ext cx="1078992" cy="0"/>
          </a:xfrm>
          <a:prstGeom prst="line">
            <a:avLst/>
          </a:prstGeom>
          <a:noFill/>
          <a:ln w="19050">
            <a:solidFill>
              <a:srgbClr val="B0B5BD"/>
            </a:solidFill>
            <a:prstDash val="solid"/>
            <a:tailEnd type="triangle"/>
          </a:ln>
        </p:spPr>
      </p:sp>
      <p:sp>
        <p:nvSpPr>
          <p:cNvPr id="14" name="Text 12"/>
          <p:cNvSpPr txBox="1"/>
          <p:nvPr/>
        </p:nvSpPr>
        <p:spPr>
          <a:xfrm>
            <a:off x="3758184" y="1874520"/>
            <a:ext cx="1554480" cy="59436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Şifre kontrolü</a:t>
            </a:r>
            <a:endParaRPr lang="en-US" sz="1250" dirty="0"/>
          </a:p>
          <a:p>
            <a:pPr algn="ctr" indent="0" marL="0">
              <a:buNone/>
            </a:pPr>
            <a:r>
              <a:rPr lang="en-US" sz="1100" dirty="0">
                <a:solidFill>
                  <a:srgbClr val="6B7280"/>
                </a:solidFill>
                <a:latin typeface="Calibri" pitchFamily="34" charset="0"/>
                <a:ea typeface="Calibri" pitchFamily="34" charset="-122"/>
                <a:cs typeface="Calibri" pitchFamily="34" charset="-120"/>
              </a:rPr>
              <a:t>bcrypt hash ile</a:t>
            </a:r>
            <a:endParaRPr lang="en-US" sz="1250" dirty="0"/>
          </a:p>
        </p:txBody>
      </p:sp>
      <p:sp>
        <p:nvSpPr>
          <p:cNvPr id="15" name="Shape 13"/>
          <p:cNvSpPr/>
          <p:nvPr/>
        </p:nvSpPr>
        <p:spPr>
          <a:xfrm>
            <a:off x="5888736" y="1234440"/>
            <a:ext cx="548640" cy="548640"/>
          </a:xfrm>
          <a:prstGeom prst="ellipse">
            <a:avLst/>
          </a:prstGeom>
          <a:solidFill>
            <a:srgbClr val="F26A00"/>
          </a:solidFill>
          <a:ln w="12700">
            <a:solidFill>
              <a:srgbClr val="F26A00"/>
            </a:solidFill>
            <a:prstDash val="solid"/>
          </a:ln>
        </p:spPr>
      </p:sp>
      <p:sp>
        <p:nvSpPr>
          <p:cNvPr id="16" name="Text 14"/>
          <p:cNvSpPr txBox="1"/>
          <p:nvPr/>
        </p:nvSpPr>
        <p:spPr>
          <a:xfrm>
            <a:off x="5888736"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Shape 15"/>
          <p:cNvSpPr/>
          <p:nvPr/>
        </p:nvSpPr>
        <p:spPr>
          <a:xfrm>
            <a:off x="6483096" y="1508760"/>
            <a:ext cx="1078992" cy="0"/>
          </a:xfrm>
          <a:prstGeom prst="line">
            <a:avLst/>
          </a:prstGeom>
          <a:noFill/>
          <a:ln w="19050">
            <a:solidFill>
              <a:srgbClr val="B0B5BD"/>
            </a:solidFill>
            <a:prstDash val="solid"/>
            <a:tailEnd type="triangle"/>
          </a:ln>
        </p:spPr>
      </p:sp>
      <p:sp>
        <p:nvSpPr>
          <p:cNvPr id="18" name="Text 16"/>
          <p:cNvSpPr txBox="1"/>
          <p:nvPr/>
        </p:nvSpPr>
        <p:spPr>
          <a:xfrm>
            <a:off x="5385816" y="1874520"/>
            <a:ext cx="1554480" cy="59436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Token üretimi</a:t>
            </a:r>
            <a:endParaRPr lang="en-US" sz="1250" dirty="0"/>
          </a:p>
          <a:p>
            <a:pPr algn="ctr" indent="0" marL="0">
              <a:buNone/>
            </a:pPr>
            <a:r>
              <a:rPr lang="en-US" sz="1100" dirty="0">
                <a:solidFill>
                  <a:srgbClr val="6B7280"/>
                </a:solidFill>
                <a:latin typeface="Calibri" pitchFamily="34" charset="0"/>
                <a:ea typeface="Calibri" pitchFamily="34" charset="-122"/>
                <a:cs typeface="Calibri" pitchFamily="34" charset="-120"/>
              </a:rPr>
              <a:t>Sanctum, DB'de hash</a:t>
            </a:r>
            <a:endParaRPr lang="en-US" sz="1250" dirty="0"/>
          </a:p>
        </p:txBody>
      </p:sp>
      <p:sp>
        <p:nvSpPr>
          <p:cNvPr id="19" name="Shape 17"/>
          <p:cNvSpPr/>
          <p:nvPr/>
        </p:nvSpPr>
        <p:spPr>
          <a:xfrm>
            <a:off x="7516368" y="1234440"/>
            <a:ext cx="548640" cy="548640"/>
          </a:xfrm>
          <a:prstGeom prst="ellipse">
            <a:avLst/>
          </a:prstGeom>
          <a:solidFill>
            <a:srgbClr val="F26A00"/>
          </a:solidFill>
          <a:ln w="12700">
            <a:solidFill>
              <a:srgbClr val="F26A00"/>
            </a:solidFill>
            <a:prstDash val="solid"/>
          </a:ln>
        </p:spPr>
      </p:sp>
      <p:sp>
        <p:nvSpPr>
          <p:cNvPr id="20" name="Text 18"/>
          <p:cNvSpPr txBox="1"/>
          <p:nvPr/>
        </p:nvSpPr>
        <p:spPr>
          <a:xfrm>
            <a:off x="7516368"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1" name="Text 19"/>
          <p:cNvSpPr txBox="1"/>
          <p:nvPr/>
        </p:nvSpPr>
        <p:spPr>
          <a:xfrm>
            <a:off x="7013448" y="1874520"/>
            <a:ext cx="1554480" cy="594360"/>
          </a:xfrm>
          <a:prstGeom prst="rect">
            <a:avLst/>
          </a:prstGeom>
          <a:noFill/>
          <a:ln/>
        </p:spPr>
        <p:txBody>
          <a:bodyPr wrap="square" lIns="0" tIns="0" rIns="0" bIns="0" rtlCol="0" anchor="t"/>
          <a:lstStyle/>
          <a:p>
            <a:pPr algn="ctr" indent="0" marL="0">
              <a:buNone/>
            </a:pPr>
            <a:r>
              <a:rPr lang="en-US" sz="1250" b="1" dirty="0">
                <a:solidFill>
                  <a:srgbClr val="1F2937"/>
                </a:solidFill>
                <a:latin typeface="Calibri" pitchFamily="34" charset="0"/>
                <a:ea typeface="Calibri" pitchFamily="34" charset="-122"/>
                <a:cs typeface="Calibri" pitchFamily="34" charset="-120"/>
              </a:rPr>
              <a:t>Bearer token</a:t>
            </a:r>
            <a:endParaRPr lang="en-US" sz="1250" dirty="0"/>
          </a:p>
          <a:p>
            <a:pPr algn="ctr" indent="0" marL="0">
              <a:buNone/>
            </a:pPr>
            <a:r>
              <a:rPr lang="en-US" sz="1100" dirty="0">
                <a:solidFill>
                  <a:srgbClr val="6B7280"/>
                </a:solidFill>
                <a:latin typeface="Calibri" pitchFamily="34" charset="0"/>
                <a:ea typeface="Calibri" pitchFamily="34" charset="-122"/>
                <a:cs typeface="Calibri" pitchFamily="34" charset="-120"/>
              </a:rPr>
              <a:t>her isteğe eklenir</a:t>
            </a:r>
            <a:endParaRPr lang="en-US" sz="1250" dirty="0"/>
          </a:p>
        </p:txBody>
      </p:sp>
      <p:sp>
        <p:nvSpPr>
          <p:cNvPr id="22" name="Shape 20"/>
          <p:cNvSpPr/>
          <p:nvPr/>
        </p:nvSpPr>
        <p:spPr>
          <a:xfrm>
            <a:off x="548640" y="2697480"/>
            <a:ext cx="3931920" cy="1234440"/>
          </a:xfrm>
          <a:prstGeom prst="roundRect">
            <a:avLst>
              <a:gd name="adj" fmla="val 8889"/>
            </a:avLst>
          </a:prstGeom>
          <a:solidFill>
            <a:srgbClr val="F4F4F5"/>
          </a:solidFill>
          <a:ln w="12700">
            <a:solidFill>
              <a:srgbClr val="F4F4F5"/>
            </a:solidFill>
            <a:prstDash val="solid"/>
          </a:ln>
        </p:spPr>
      </p:sp>
      <p:sp>
        <p:nvSpPr>
          <p:cNvPr id="23" name="Text 21"/>
          <p:cNvSpPr txBox="1"/>
          <p:nvPr/>
        </p:nvSpPr>
        <p:spPr>
          <a:xfrm>
            <a:off x="777240" y="2761488"/>
            <a:ext cx="3520440" cy="1097280"/>
          </a:xfrm>
          <a:prstGeom prst="rect">
            <a:avLst/>
          </a:prstGeom>
          <a:noFill/>
          <a:ln/>
        </p:spPr>
        <p:txBody>
          <a:bodyPr wrap="square" lIns="0" tIns="0" rIns="0" bIns="0" rtlCol="0" anchor="t"/>
          <a:lstStyle/>
          <a:p>
            <a:pPr indent="0" marL="0">
              <a:buNone/>
            </a:pPr>
            <a:r>
              <a:rPr lang="en-US" sz="1600" b="1" dirty="0">
                <a:solidFill>
                  <a:srgbClr val="F26A00"/>
                </a:solidFill>
                <a:latin typeface="Calibri" pitchFamily="34" charset="0"/>
                <a:ea typeface="Calibri" pitchFamily="34" charset="-122"/>
                <a:cs typeface="Calibri" pitchFamily="34" charset="-120"/>
              </a:rPr>
              <a:t>401 Unauthorized</a:t>
            </a:r>
            <a:endParaRPr lang="en-US" sz="1600" dirty="0"/>
          </a:p>
          <a:p>
            <a:pPr indent="0" marL="0">
              <a:buNone/>
            </a:pPr>
            <a:r>
              <a:rPr lang="en-US" sz="1250" b="1" dirty="0">
                <a:solidFill>
                  <a:srgbClr val="1F2937"/>
                </a:solidFill>
                <a:latin typeface="Calibri" pitchFamily="34" charset="0"/>
                <a:ea typeface="Calibri" pitchFamily="34" charset="-122"/>
                <a:cs typeface="Calibri" pitchFamily="34" charset="-120"/>
              </a:rPr>
              <a:t>Kimlik kanıtlanmadı</a:t>
            </a:r>
            <a:endParaRPr lang="en-US" sz="1600" dirty="0"/>
          </a:p>
          <a:p>
            <a:pPr indent="0" marL="0">
              <a:buNone/>
            </a:pPr>
            <a:r>
              <a:rPr lang="en-US" sz="1150" dirty="0">
                <a:solidFill>
                  <a:srgbClr val="1F2937"/>
                </a:solidFill>
                <a:latin typeface="Calibri" pitchFamily="34" charset="0"/>
                <a:ea typeface="Calibri" pitchFamily="34" charset="-122"/>
                <a:cs typeface="Calibri" pitchFamily="34" charset="-120"/>
              </a:rPr>
              <a:t>Tokensız istek ya da hatalı e-posta/şifre. "Sen kimsin?" sorusunun cevabı yok.</a:t>
            </a:r>
            <a:endParaRPr lang="en-US" sz="1600" dirty="0"/>
          </a:p>
        </p:txBody>
      </p:sp>
      <p:sp>
        <p:nvSpPr>
          <p:cNvPr id="24" name="Shape 22"/>
          <p:cNvSpPr/>
          <p:nvPr/>
        </p:nvSpPr>
        <p:spPr>
          <a:xfrm>
            <a:off x="4663440" y="2697480"/>
            <a:ext cx="3931920" cy="1234440"/>
          </a:xfrm>
          <a:prstGeom prst="roundRect">
            <a:avLst>
              <a:gd name="adj" fmla="val 8889"/>
            </a:avLst>
          </a:prstGeom>
          <a:solidFill>
            <a:srgbClr val="F4F4F5"/>
          </a:solidFill>
          <a:ln w="12700">
            <a:solidFill>
              <a:srgbClr val="F4F4F5"/>
            </a:solidFill>
            <a:prstDash val="solid"/>
          </a:ln>
        </p:spPr>
      </p:sp>
      <p:sp>
        <p:nvSpPr>
          <p:cNvPr id="25" name="Text 23"/>
          <p:cNvSpPr txBox="1"/>
          <p:nvPr/>
        </p:nvSpPr>
        <p:spPr>
          <a:xfrm>
            <a:off x="4892040" y="2761488"/>
            <a:ext cx="3520440" cy="1097280"/>
          </a:xfrm>
          <a:prstGeom prst="rect">
            <a:avLst/>
          </a:prstGeom>
          <a:noFill/>
          <a:ln/>
        </p:spPr>
        <p:txBody>
          <a:bodyPr wrap="square" lIns="0" tIns="0" rIns="0" bIns="0" rtlCol="0" anchor="t"/>
          <a:lstStyle/>
          <a:p>
            <a:pPr indent="0" marL="0">
              <a:buNone/>
            </a:pPr>
            <a:r>
              <a:rPr lang="en-US" sz="1600" b="1" dirty="0">
                <a:solidFill>
                  <a:srgbClr val="F26A00"/>
                </a:solidFill>
                <a:latin typeface="Calibri" pitchFamily="34" charset="0"/>
                <a:ea typeface="Calibri" pitchFamily="34" charset="-122"/>
                <a:cs typeface="Calibri" pitchFamily="34" charset="-120"/>
              </a:rPr>
              <a:t>403 Forbidden</a:t>
            </a:r>
            <a:endParaRPr lang="en-US" sz="1600" dirty="0"/>
          </a:p>
          <a:p>
            <a:pPr indent="0" marL="0">
              <a:buNone/>
            </a:pPr>
            <a:r>
              <a:rPr lang="en-US" sz="1250" b="1" dirty="0">
                <a:solidFill>
                  <a:srgbClr val="1F2937"/>
                </a:solidFill>
                <a:latin typeface="Calibri" pitchFamily="34" charset="0"/>
                <a:ea typeface="Calibri" pitchFamily="34" charset="-122"/>
                <a:cs typeface="Calibri" pitchFamily="34" charset="-120"/>
              </a:rPr>
              <a:t>Yetki yok</a:t>
            </a:r>
            <a:endParaRPr lang="en-US" sz="1600" dirty="0"/>
          </a:p>
          <a:p>
            <a:pPr indent="0" marL="0">
              <a:buNone/>
            </a:pPr>
            <a:r>
              <a:rPr lang="en-US" sz="1150" dirty="0">
                <a:solidFill>
                  <a:srgbClr val="1F2937"/>
                </a:solidFill>
                <a:latin typeface="Calibri" pitchFamily="34" charset="0"/>
                <a:ea typeface="Calibri" pitchFamily="34" charset="-122"/>
                <a:cs typeface="Calibri" pitchFamily="34" charset="-120"/>
              </a:rPr>
              <a:t>Kimlik belli ama işlem için yetkin yok. Örnek: müşteri, yönetici ucunu çağırdı.</a:t>
            </a:r>
            <a:endParaRPr lang="en-US" sz="1600" dirty="0"/>
          </a:p>
        </p:txBody>
      </p:sp>
      <p:sp>
        <p:nvSpPr>
          <p:cNvPr id="26" name="Text 24"/>
          <p:cNvSpPr txBox="1"/>
          <p:nvPr/>
        </p:nvSpPr>
        <p:spPr>
          <a:xfrm>
            <a:off x="548640" y="4069080"/>
            <a:ext cx="8046720" cy="54864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Rol yalnızca backend'den gelir (/api/me). </a:t>
            </a:r>
            <a:pPr indent="0" marL="0">
              <a:buNone/>
            </a:pPr>
            <a:r>
              <a:rPr lang="en-US" sz="1200" dirty="0">
                <a:solidFill>
                  <a:srgbClr val="6B7280"/>
                </a:solidFill>
                <a:latin typeface="Calibri" pitchFamily="34" charset="0"/>
                <a:ea typeface="Calibri" pitchFamily="34" charset="-122"/>
                <a:cs typeface="Calibri" pitchFamily="34" charset="-120"/>
              </a:rPr>
              <a:t>Tarayıcıda saklanan tek şey token'dır; localStorage'a "admin" yazmak yönetim API'sine erişim sağlamaz.</a:t>
            </a:r>
            <a:endParaRPr lang="en-US" sz="1200" dirty="0"/>
          </a:p>
        </p:txBody>
      </p:sp>
      <p:sp>
        <p:nvSpPr>
          <p:cNvPr id="27" name="Text 25"/>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28" name="Text 26"/>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İş Kuralları Backend'de: Sipariş</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Frontend yalnızca "hangi kitap, kaç adet" der</a:t>
            </a:r>
            <a:endParaRPr lang="en-US" sz="1300" dirty="0"/>
          </a:p>
        </p:txBody>
      </p:sp>
      <p:sp>
        <p:nvSpPr>
          <p:cNvPr id="4" name="Shape 2"/>
          <p:cNvSpPr/>
          <p:nvPr/>
        </p:nvSpPr>
        <p:spPr>
          <a:xfrm>
            <a:off x="548640" y="1325880"/>
            <a:ext cx="420624" cy="420624"/>
          </a:xfrm>
          <a:prstGeom prst="ellipse">
            <a:avLst/>
          </a:prstGeom>
          <a:solidFill>
            <a:srgbClr val="F26A00"/>
          </a:solidFill>
          <a:ln w="12700">
            <a:solidFill>
              <a:srgbClr val="F26A00"/>
            </a:solidFill>
            <a:prstDash val="solid"/>
          </a:ln>
        </p:spPr>
      </p:sp>
      <p:sp>
        <p:nvSpPr>
          <p:cNvPr id="5" name="Text 3"/>
          <p:cNvSpPr txBox="1"/>
          <p:nvPr/>
        </p:nvSpPr>
        <p:spPr>
          <a:xfrm>
            <a:off x="548640" y="1325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097280" y="1325880"/>
            <a:ext cx="3931920" cy="42062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İstekte fiyat yok; token ile kullanıcı bulunur</a:t>
            </a:r>
            <a:endParaRPr lang="en-US" sz="1300" dirty="0"/>
          </a:p>
        </p:txBody>
      </p:sp>
      <p:sp>
        <p:nvSpPr>
          <p:cNvPr id="7" name="Shape 5"/>
          <p:cNvSpPr/>
          <p:nvPr/>
        </p:nvSpPr>
        <p:spPr>
          <a:xfrm>
            <a:off x="548640" y="1947672"/>
            <a:ext cx="420624" cy="420624"/>
          </a:xfrm>
          <a:prstGeom prst="ellipse">
            <a:avLst/>
          </a:prstGeom>
          <a:solidFill>
            <a:srgbClr val="F26A00"/>
          </a:solidFill>
          <a:ln w="12700">
            <a:solidFill>
              <a:srgbClr val="F26A00"/>
            </a:solidFill>
            <a:prstDash val="solid"/>
          </a:ln>
        </p:spPr>
      </p:sp>
      <p:sp>
        <p:nvSpPr>
          <p:cNvPr id="8" name="Text 6"/>
          <p:cNvSpPr txBox="1"/>
          <p:nvPr/>
        </p:nvSpPr>
        <p:spPr>
          <a:xfrm>
            <a:off x="548640" y="1947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097280" y="1947672"/>
            <a:ext cx="3931920" cy="42062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Transaction başlar, kitap satırları kilitlenir</a:t>
            </a:r>
            <a:endParaRPr lang="en-US" sz="1300" dirty="0"/>
          </a:p>
        </p:txBody>
      </p:sp>
      <p:sp>
        <p:nvSpPr>
          <p:cNvPr id="10" name="Shape 8"/>
          <p:cNvSpPr/>
          <p:nvPr/>
        </p:nvSpPr>
        <p:spPr>
          <a:xfrm>
            <a:off x="548640" y="2569464"/>
            <a:ext cx="420624" cy="420624"/>
          </a:xfrm>
          <a:prstGeom prst="ellipse">
            <a:avLst/>
          </a:prstGeom>
          <a:solidFill>
            <a:srgbClr val="F26A00"/>
          </a:solidFill>
          <a:ln w="12700">
            <a:solidFill>
              <a:srgbClr val="F26A00"/>
            </a:solidFill>
            <a:prstDash val="solid"/>
          </a:ln>
        </p:spPr>
      </p:sp>
      <p:sp>
        <p:nvSpPr>
          <p:cNvPr id="11" name="Text 9"/>
          <p:cNvSpPr txBox="1"/>
          <p:nvPr/>
        </p:nvSpPr>
        <p:spPr>
          <a:xfrm>
            <a:off x="548640" y="2569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097280" y="2569464"/>
            <a:ext cx="3931920" cy="42062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Stok yetersizse 409; hiçbir kayıt değişmez</a:t>
            </a:r>
            <a:endParaRPr lang="en-US" sz="1300" dirty="0"/>
          </a:p>
        </p:txBody>
      </p:sp>
      <p:sp>
        <p:nvSpPr>
          <p:cNvPr id="13" name="Shape 11"/>
          <p:cNvSpPr/>
          <p:nvPr/>
        </p:nvSpPr>
        <p:spPr>
          <a:xfrm>
            <a:off x="548640" y="3191256"/>
            <a:ext cx="420624" cy="420624"/>
          </a:xfrm>
          <a:prstGeom prst="ellipse">
            <a:avLst/>
          </a:prstGeom>
          <a:solidFill>
            <a:srgbClr val="F26A00"/>
          </a:solidFill>
          <a:ln w="12700">
            <a:solidFill>
              <a:srgbClr val="F26A00"/>
            </a:solidFill>
            <a:prstDash val="solid"/>
          </a:ln>
        </p:spPr>
      </p:sp>
      <p:sp>
        <p:nvSpPr>
          <p:cNvPr id="14" name="Text 12"/>
          <p:cNvSpPr txBox="1"/>
          <p:nvPr/>
        </p:nvSpPr>
        <p:spPr>
          <a:xfrm>
            <a:off x="548640" y="31912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097280" y="3191256"/>
            <a:ext cx="3931920" cy="42062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Fiyat veritabanından okunur, kargo hesaplanır</a:t>
            </a:r>
            <a:endParaRPr lang="en-US" sz="1300" dirty="0"/>
          </a:p>
        </p:txBody>
      </p:sp>
      <p:sp>
        <p:nvSpPr>
          <p:cNvPr id="16" name="Shape 14"/>
          <p:cNvSpPr/>
          <p:nvPr/>
        </p:nvSpPr>
        <p:spPr>
          <a:xfrm>
            <a:off x="548640" y="3813048"/>
            <a:ext cx="420624" cy="420624"/>
          </a:xfrm>
          <a:prstGeom prst="ellipse">
            <a:avLst/>
          </a:prstGeom>
          <a:solidFill>
            <a:srgbClr val="F26A00"/>
          </a:solidFill>
          <a:ln w="12700">
            <a:solidFill>
              <a:srgbClr val="F26A00"/>
            </a:solidFill>
            <a:prstDash val="solid"/>
          </a:ln>
        </p:spPr>
      </p:sp>
      <p:sp>
        <p:nvSpPr>
          <p:cNvPr id="17" name="Text 15"/>
          <p:cNvSpPr txBox="1"/>
          <p:nvPr/>
        </p:nvSpPr>
        <p:spPr>
          <a:xfrm>
            <a:off x="548640" y="3813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txBox="1"/>
          <p:nvPr/>
        </p:nvSpPr>
        <p:spPr>
          <a:xfrm>
            <a:off x="1097280" y="3813048"/>
            <a:ext cx="3931920" cy="42062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Sipariş ve kalemler kaydedilir, stok düşer</a:t>
            </a:r>
            <a:endParaRPr lang="en-US" sz="1300" dirty="0"/>
          </a:p>
        </p:txBody>
      </p:sp>
      <p:sp>
        <p:nvSpPr>
          <p:cNvPr id="19" name="Shape 17"/>
          <p:cNvSpPr/>
          <p:nvPr/>
        </p:nvSpPr>
        <p:spPr>
          <a:xfrm>
            <a:off x="5303520" y="1280160"/>
            <a:ext cx="3291840" cy="3200400"/>
          </a:xfrm>
          <a:prstGeom prst="roundRect">
            <a:avLst>
              <a:gd name="adj" fmla="val 4000"/>
            </a:avLst>
          </a:prstGeom>
          <a:solidFill>
            <a:srgbClr val="111114"/>
          </a:solidFill>
          <a:ln w="12700">
            <a:solidFill>
              <a:srgbClr val="111114"/>
            </a:solidFill>
            <a:prstDash val="solid"/>
          </a:ln>
        </p:spPr>
      </p:sp>
      <p:sp>
        <p:nvSpPr>
          <p:cNvPr id="20" name="Text 18"/>
          <p:cNvSpPr txBox="1"/>
          <p:nvPr/>
        </p:nvSpPr>
        <p:spPr>
          <a:xfrm>
            <a:off x="5486400" y="1371600"/>
            <a:ext cx="292608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Sipariş durum akışı</a:t>
            </a:r>
            <a:endParaRPr lang="en-US" sz="1400" dirty="0"/>
          </a:p>
        </p:txBody>
      </p:sp>
      <p:sp>
        <p:nvSpPr>
          <p:cNvPr id="21" name="Shape 19"/>
          <p:cNvSpPr/>
          <p:nvPr/>
        </p:nvSpPr>
        <p:spPr>
          <a:xfrm>
            <a:off x="5532120" y="1783080"/>
            <a:ext cx="1554480" cy="457200"/>
          </a:xfrm>
          <a:prstGeom prst="roundRect">
            <a:avLst>
              <a:gd name="adj" fmla="val 20000"/>
            </a:avLst>
          </a:prstGeom>
          <a:solidFill>
            <a:srgbClr val="1C1C21"/>
          </a:solidFill>
          <a:ln w="15875">
            <a:solidFill>
              <a:srgbClr val="F26A00"/>
            </a:solidFill>
            <a:prstDash val="solid"/>
          </a:ln>
        </p:spPr>
      </p:sp>
      <p:sp>
        <p:nvSpPr>
          <p:cNvPr id="22" name="Text 20"/>
          <p:cNvSpPr txBox="1"/>
          <p:nvPr/>
        </p:nvSpPr>
        <p:spPr>
          <a:xfrm>
            <a:off x="5532120" y="1783080"/>
            <a:ext cx="15544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Beklemede</a:t>
            </a:r>
            <a:endParaRPr lang="en-US" sz="1200" dirty="0"/>
          </a:p>
        </p:txBody>
      </p:sp>
      <p:sp>
        <p:nvSpPr>
          <p:cNvPr id="23" name="Shape 21"/>
          <p:cNvSpPr/>
          <p:nvPr/>
        </p:nvSpPr>
        <p:spPr>
          <a:xfrm>
            <a:off x="6309360" y="2240280"/>
            <a:ext cx="0" cy="365760"/>
          </a:xfrm>
          <a:prstGeom prst="line">
            <a:avLst/>
          </a:prstGeom>
          <a:noFill/>
          <a:ln w="22225">
            <a:solidFill>
              <a:srgbClr val="F26A00"/>
            </a:solidFill>
            <a:prstDash val="solid"/>
            <a:tailEnd type="triangle"/>
          </a:ln>
        </p:spPr>
      </p:sp>
      <p:sp>
        <p:nvSpPr>
          <p:cNvPr id="24" name="Shape 22"/>
          <p:cNvSpPr/>
          <p:nvPr/>
        </p:nvSpPr>
        <p:spPr>
          <a:xfrm>
            <a:off x="5532120" y="2606040"/>
            <a:ext cx="1554480" cy="457200"/>
          </a:xfrm>
          <a:prstGeom prst="roundRect">
            <a:avLst>
              <a:gd name="adj" fmla="val 20000"/>
            </a:avLst>
          </a:prstGeom>
          <a:solidFill>
            <a:srgbClr val="1C1C21"/>
          </a:solidFill>
          <a:ln w="15875">
            <a:solidFill>
              <a:srgbClr val="F26A00"/>
            </a:solidFill>
            <a:prstDash val="solid"/>
          </a:ln>
        </p:spPr>
      </p:sp>
      <p:sp>
        <p:nvSpPr>
          <p:cNvPr id="25" name="Text 23"/>
          <p:cNvSpPr txBox="1"/>
          <p:nvPr/>
        </p:nvSpPr>
        <p:spPr>
          <a:xfrm>
            <a:off x="5532120" y="2606040"/>
            <a:ext cx="15544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Kargoda</a:t>
            </a:r>
            <a:endParaRPr lang="en-US" sz="1200" dirty="0"/>
          </a:p>
        </p:txBody>
      </p:sp>
      <p:sp>
        <p:nvSpPr>
          <p:cNvPr id="26" name="Shape 24"/>
          <p:cNvSpPr/>
          <p:nvPr/>
        </p:nvSpPr>
        <p:spPr>
          <a:xfrm>
            <a:off x="6309360" y="3063240"/>
            <a:ext cx="0" cy="365760"/>
          </a:xfrm>
          <a:prstGeom prst="line">
            <a:avLst/>
          </a:prstGeom>
          <a:noFill/>
          <a:ln w="22225">
            <a:solidFill>
              <a:srgbClr val="F26A00"/>
            </a:solidFill>
            <a:prstDash val="solid"/>
            <a:tailEnd type="triangle"/>
          </a:ln>
        </p:spPr>
      </p:sp>
      <p:sp>
        <p:nvSpPr>
          <p:cNvPr id="27" name="Shape 25"/>
          <p:cNvSpPr/>
          <p:nvPr/>
        </p:nvSpPr>
        <p:spPr>
          <a:xfrm>
            <a:off x="5532120" y="3429000"/>
            <a:ext cx="1554480" cy="457200"/>
          </a:xfrm>
          <a:prstGeom prst="roundRect">
            <a:avLst>
              <a:gd name="adj" fmla="val 20000"/>
            </a:avLst>
          </a:prstGeom>
          <a:solidFill>
            <a:srgbClr val="1C1C21"/>
          </a:solidFill>
          <a:ln w="15875">
            <a:solidFill>
              <a:srgbClr val="F26A00"/>
            </a:solidFill>
            <a:prstDash val="solid"/>
          </a:ln>
        </p:spPr>
      </p:sp>
      <p:sp>
        <p:nvSpPr>
          <p:cNvPr id="28" name="Text 26"/>
          <p:cNvSpPr txBox="1"/>
          <p:nvPr/>
        </p:nvSpPr>
        <p:spPr>
          <a:xfrm>
            <a:off x="5532120" y="3429000"/>
            <a:ext cx="15544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Teslim edildi</a:t>
            </a:r>
            <a:endParaRPr lang="en-US" sz="1200" dirty="0"/>
          </a:p>
        </p:txBody>
      </p:sp>
      <p:sp>
        <p:nvSpPr>
          <p:cNvPr id="29" name="Shape 27"/>
          <p:cNvSpPr/>
          <p:nvPr/>
        </p:nvSpPr>
        <p:spPr>
          <a:xfrm>
            <a:off x="7315200" y="2606040"/>
            <a:ext cx="1143000" cy="457200"/>
          </a:xfrm>
          <a:prstGeom prst="roundRect">
            <a:avLst>
              <a:gd name="adj" fmla="val 20000"/>
            </a:avLst>
          </a:prstGeom>
          <a:solidFill>
            <a:srgbClr val="1C1C21"/>
          </a:solidFill>
          <a:ln w="15875">
            <a:solidFill>
              <a:srgbClr val="DC2626"/>
            </a:solidFill>
            <a:prstDash val="solid"/>
          </a:ln>
        </p:spPr>
      </p:sp>
      <p:sp>
        <p:nvSpPr>
          <p:cNvPr id="30" name="Text 28"/>
          <p:cNvSpPr txBox="1"/>
          <p:nvPr/>
        </p:nvSpPr>
        <p:spPr>
          <a:xfrm>
            <a:off x="7315200" y="2606040"/>
            <a:ext cx="11430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İptal</a:t>
            </a:r>
            <a:endParaRPr lang="en-US" sz="1200" dirty="0"/>
          </a:p>
        </p:txBody>
      </p:sp>
      <p:sp>
        <p:nvSpPr>
          <p:cNvPr id="31" name="Shape 29"/>
          <p:cNvSpPr/>
          <p:nvPr/>
        </p:nvSpPr>
        <p:spPr>
          <a:xfrm>
            <a:off x="7086600" y="2011680"/>
            <a:ext cx="777240" cy="594360"/>
          </a:xfrm>
          <a:prstGeom prst="line">
            <a:avLst/>
          </a:prstGeom>
          <a:noFill/>
          <a:ln w="15875">
            <a:solidFill>
              <a:srgbClr val="DC2626"/>
            </a:solidFill>
            <a:prstDash val="dash"/>
            <a:tailEnd type="triangle"/>
          </a:ln>
        </p:spPr>
      </p:sp>
      <p:sp>
        <p:nvSpPr>
          <p:cNvPr id="32" name="Shape 30"/>
          <p:cNvSpPr/>
          <p:nvPr/>
        </p:nvSpPr>
        <p:spPr>
          <a:xfrm>
            <a:off x="7086600" y="2834640"/>
            <a:ext cx="228600" cy="0"/>
          </a:xfrm>
          <a:prstGeom prst="line">
            <a:avLst/>
          </a:prstGeom>
          <a:noFill/>
          <a:ln w="15875">
            <a:solidFill>
              <a:srgbClr val="DC2626"/>
            </a:solidFill>
            <a:prstDash val="dash"/>
            <a:tailEnd type="triangle"/>
          </a:ln>
        </p:spPr>
      </p:sp>
      <p:sp>
        <p:nvSpPr>
          <p:cNvPr id="33" name="Text 31"/>
          <p:cNvSpPr txBox="1"/>
          <p:nvPr/>
        </p:nvSpPr>
        <p:spPr>
          <a:xfrm>
            <a:off x="5486400" y="3977640"/>
            <a:ext cx="2926080" cy="41148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İptalde stok iade edilir. Teslim edilmiş veya iptal edilmiş sipariş değiştirilemez.</a:t>
            </a:r>
            <a:endParaRPr lang="en-US" sz="1000" dirty="0"/>
          </a:p>
        </p:txBody>
      </p:sp>
      <p:sp>
        <p:nvSpPr>
          <p:cNvPr id="34" name="Text 32"/>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35" name="Text 33"/>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Müşteri Arayüzü</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Tüm veriler API üzerinden gelir</a:t>
            </a:r>
            <a:endParaRPr lang="en-US" sz="1300" dirty="0"/>
          </a:p>
        </p:txBody>
      </p:sp>
      <p:pic>
        <p:nvPicPr>
          <p:cNvPr id="4" name="Image 0" descr="/tmp/claude-0/scratch/shots/1-vitrin.png">    </p:cNvPr>
          <p:cNvPicPr>
            <a:picLocks noChangeAspect="1"/>
          </p:cNvPicPr>
          <p:nvPr/>
        </p:nvPicPr>
        <p:blipFill>
          <a:blip r:embed="rId1"/>
          <a:srcRect l="0" r="0" t="0" b="0"/>
          <a:stretch/>
        </p:blipFill>
        <p:spPr>
          <a:xfrm>
            <a:off x="548640" y="1325880"/>
            <a:ext cx="3977640" cy="2240280"/>
          </a:xfrm>
          <a:prstGeom prst="rect">
            <a:avLst/>
          </a:prstGeom>
        </p:spPr>
      </p:pic>
      <p:sp>
        <p:nvSpPr>
          <p:cNvPr id="5" name="Shape 2"/>
          <p:cNvSpPr/>
          <p:nvPr/>
        </p:nvSpPr>
        <p:spPr>
          <a:xfrm>
            <a:off x="548640" y="1325880"/>
            <a:ext cx="3977640" cy="2240280"/>
          </a:xfrm>
          <a:prstGeom prst="rect">
            <a:avLst/>
          </a:prstGeom>
          <a:solidFill>
            <a:srgbClr val="FFFFFF">
              <a:alpha val="0"/>
            </a:srgbClr>
          </a:solidFill>
          <a:ln w="12700">
            <a:solidFill>
              <a:srgbClr val="E5E7EB"/>
            </a:solidFill>
            <a:prstDash val="solid"/>
          </a:ln>
        </p:spPr>
      </p:sp>
      <p:sp>
        <p:nvSpPr>
          <p:cNvPr id="6" name="Text 3"/>
          <p:cNvSpPr txBox="1"/>
          <p:nvPr/>
        </p:nvSpPr>
        <p:spPr>
          <a:xfrm>
            <a:off x="54864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Vitrin ve kategori filtresi</a:t>
            </a:r>
            <a:endParaRPr lang="en-US" sz="1400" dirty="0"/>
          </a:p>
        </p:txBody>
      </p:sp>
      <p:sp>
        <p:nvSpPr>
          <p:cNvPr id="7" name="Text 4"/>
          <p:cNvSpPr txBox="1"/>
          <p:nvPr/>
        </p:nvSpPr>
        <p:spPr>
          <a:xfrm>
            <a:off x="54864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Kitaplar ve kategoriler veritabanından listelenir; yıldız puanları gerçek yorumlardan hesaplanır.</a:t>
            </a:r>
            <a:endParaRPr lang="en-US" sz="1200" dirty="0"/>
          </a:p>
        </p:txBody>
      </p:sp>
      <p:pic>
        <p:nvPicPr>
          <p:cNvPr id="8" name="Image 1" descr="/tmp/claude-0/scratch/shots/2-detay.png">    </p:cNvPr>
          <p:cNvPicPr>
            <a:picLocks noChangeAspect="1"/>
          </p:cNvPicPr>
          <p:nvPr/>
        </p:nvPicPr>
        <p:blipFill>
          <a:blip r:embed="rId2"/>
          <a:srcRect l="0" r="0" t="0" b="0"/>
          <a:stretch/>
        </p:blipFill>
        <p:spPr>
          <a:xfrm>
            <a:off x="4617720" y="1325880"/>
            <a:ext cx="3977640" cy="2240280"/>
          </a:xfrm>
          <a:prstGeom prst="rect">
            <a:avLst/>
          </a:prstGeom>
        </p:spPr>
      </p:pic>
      <p:sp>
        <p:nvSpPr>
          <p:cNvPr id="9" name="Shape 5"/>
          <p:cNvSpPr/>
          <p:nvPr/>
        </p:nvSpPr>
        <p:spPr>
          <a:xfrm>
            <a:off x="4617720" y="1325880"/>
            <a:ext cx="3977640" cy="2240280"/>
          </a:xfrm>
          <a:prstGeom prst="rect">
            <a:avLst/>
          </a:prstGeom>
          <a:solidFill>
            <a:srgbClr val="FFFFFF">
              <a:alpha val="0"/>
            </a:srgbClr>
          </a:solidFill>
          <a:ln w="12700">
            <a:solidFill>
              <a:srgbClr val="E5E7EB"/>
            </a:solidFill>
            <a:prstDash val="solid"/>
          </a:ln>
        </p:spPr>
      </p:sp>
      <p:sp>
        <p:nvSpPr>
          <p:cNvPr id="10" name="Text 6"/>
          <p:cNvSpPr txBox="1"/>
          <p:nvPr/>
        </p:nvSpPr>
        <p:spPr>
          <a:xfrm>
            <a:off x="461772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Kitap detayı ve yorumlar</a:t>
            </a:r>
            <a:endParaRPr lang="en-US" sz="1400" dirty="0"/>
          </a:p>
        </p:txBody>
      </p:sp>
      <p:sp>
        <p:nvSpPr>
          <p:cNvPr id="11" name="Text 7"/>
          <p:cNvSpPr txBox="1"/>
          <p:nvPr/>
        </p:nvSpPr>
        <p:spPr>
          <a:xfrm>
            <a:off x="461772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Giriş yapan müşteri puan verip yorum yazar; yorumu güncelleyebilir veya silebilir.</a:t>
            </a:r>
            <a:endParaRPr lang="en-US" sz="1200" dirty="0"/>
          </a:p>
        </p:txBody>
      </p:sp>
      <p:sp>
        <p:nvSpPr>
          <p:cNvPr id="12" name="Text 8"/>
          <p:cNvSpPr txBox="1"/>
          <p:nvPr/>
        </p:nvSpPr>
        <p:spPr>
          <a:xfrm>
            <a:off x="4754880" y="4773168"/>
            <a:ext cx="3291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Ekran görüntüleri örnek kullanım verisiyle alınmıştır.</a:t>
            </a:r>
            <a:endParaRPr lang="en-US" sz="900" dirty="0"/>
          </a:p>
        </p:txBody>
      </p:sp>
      <p:sp>
        <p:nvSpPr>
          <p:cNvPr id="13" name="Text 9"/>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14" name="Text 10"/>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Yönetim Paneli</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Yalnızca yönetici rolü erişebilir</a:t>
            </a:r>
            <a:endParaRPr lang="en-US" sz="1300" dirty="0"/>
          </a:p>
        </p:txBody>
      </p:sp>
      <p:pic>
        <p:nvPicPr>
          <p:cNvPr id="4" name="Image 0" descr="/tmp/claude-0/scratch/shots/4-dashboard.png">    </p:cNvPr>
          <p:cNvPicPr>
            <a:picLocks noChangeAspect="1"/>
          </p:cNvPicPr>
          <p:nvPr/>
        </p:nvPicPr>
        <p:blipFill>
          <a:blip r:embed="rId1"/>
          <a:srcRect l="0" r="0" t="0" b="0"/>
          <a:stretch/>
        </p:blipFill>
        <p:spPr>
          <a:xfrm>
            <a:off x="548640" y="1325880"/>
            <a:ext cx="3977640" cy="2240280"/>
          </a:xfrm>
          <a:prstGeom prst="rect">
            <a:avLst/>
          </a:prstGeom>
        </p:spPr>
      </p:pic>
      <p:sp>
        <p:nvSpPr>
          <p:cNvPr id="5" name="Shape 2"/>
          <p:cNvSpPr/>
          <p:nvPr/>
        </p:nvSpPr>
        <p:spPr>
          <a:xfrm>
            <a:off x="548640" y="1325880"/>
            <a:ext cx="3977640" cy="2240280"/>
          </a:xfrm>
          <a:prstGeom prst="rect">
            <a:avLst/>
          </a:prstGeom>
          <a:solidFill>
            <a:srgbClr val="FFFFFF">
              <a:alpha val="0"/>
            </a:srgbClr>
          </a:solidFill>
          <a:ln w="12700">
            <a:solidFill>
              <a:srgbClr val="E5E7EB"/>
            </a:solidFill>
            <a:prstDash val="solid"/>
          </a:ln>
        </p:spPr>
      </p:sp>
      <p:sp>
        <p:nvSpPr>
          <p:cNvPr id="6" name="Text 3"/>
          <p:cNvSpPr txBox="1"/>
          <p:nvPr/>
        </p:nvSpPr>
        <p:spPr>
          <a:xfrm>
            <a:off x="54864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Dashboard</a:t>
            </a:r>
            <a:endParaRPr lang="en-US" sz="1400" dirty="0"/>
          </a:p>
        </p:txBody>
      </p:sp>
      <p:sp>
        <p:nvSpPr>
          <p:cNvPr id="7" name="Text 4"/>
          <p:cNvSpPr txBox="1"/>
          <p:nvPr/>
        </p:nvSpPr>
        <p:spPr>
          <a:xfrm>
            <a:off x="54864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Toplam gelir, sipariş ve stok; aylık gelir ve en çok satan kitaplar gerçek siparişlerden hesaplanır.</a:t>
            </a:r>
            <a:endParaRPr lang="en-US" sz="1200" dirty="0"/>
          </a:p>
        </p:txBody>
      </p:sp>
      <p:pic>
        <p:nvPicPr>
          <p:cNvPr id="8" name="Image 1" descr="/tmp/claude-0/scratch/shots/5-siparisler.png">    </p:cNvPr>
          <p:cNvPicPr>
            <a:picLocks noChangeAspect="1"/>
          </p:cNvPicPr>
          <p:nvPr/>
        </p:nvPicPr>
        <p:blipFill>
          <a:blip r:embed="rId2"/>
          <a:srcRect l="0" r="0" t="0" b="0"/>
          <a:stretch/>
        </p:blipFill>
        <p:spPr>
          <a:xfrm>
            <a:off x="4617720" y="1325880"/>
            <a:ext cx="3977640" cy="2240280"/>
          </a:xfrm>
          <a:prstGeom prst="rect">
            <a:avLst/>
          </a:prstGeom>
        </p:spPr>
      </p:pic>
      <p:sp>
        <p:nvSpPr>
          <p:cNvPr id="9" name="Shape 5"/>
          <p:cNvSpPr/>
          <p:nvPr/>
        </p:nvSpPr>
        <p:spPr>
          <a:xfrm>
            <a:off x="4617720" y="1325880"/>
            <a:ext cx="3977640" cy="2240280"/>
          </a:xfrm>
          <a:prstGeom prst="rect">
            <a:avLst/>
          </a:prstGeom>
          <a:solidFill>
            <a:srgbClr val="FFFFFF">
              <a:alpha val="0"/>
            </a:srgbClr>
          </a:solidFill>
          <a:ln w="12700">
            <a:solidFill>
              <a:srgbClr val="E5E7EB"/>
            </a:solidFill>
            <a:prstDash val="solid"/>
          </a:ln>
        </p:spPr>
      </p:sp>
      <p:sp>
        <p:nvSpPr>
          <p:cNvPr id="10" name="Text 6"/>
          <p:cNvSpPr txBox="1"/>
          <p:nvPr/>
        </p:nvSpPr>
        <p:spPr>
          <a:xfrm>
            <a:off x="461772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Sipariş yönetimi</a:t>
            </a:r>
            <a:endParaRPr lang="en-US" sz="1400" dirty="0"/>
          </a:p>
        </p:txBody>
      </p:sp>
      <p:sp>
        <p:nvSpPr>
          <p:cNvPr id="11" name="Text 7"/>
          <p:cNvSpPr txBox="1"/>
          <p:nvPr/>
        </p:nvSpPr>
        <p:spPr>
          <a:xfrm>
            <a:off x="461772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Tüm siparişler listelenir; yalnızca geçerli durum geçişleri sunulur (kargola, teslim et, iptal).</a:t>
            </a:r>
            <a:endParaRPr lang="en-US" sz="1200" dirty="0"/>
          </a:p>
        </p:txBody>
      </p:sp>
      <p:sp>
        <p:nvSpPr>
          <p:cNvPr id="12" name="Text 8"/>
          <p:cNvSpPr txBox="1"/>
          <p:nvPr/>
        </p:nvSpPr>
        <p:spPr>
          <a:xfrm>
            <a:off x="4754880" y="4773168"/>
            <a:ext cx="3291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Ekran görüntüleri örnek kullanım verisiyle alınmıştır.</a:t>
            </a:r>
            <a:endParaRPr lang="en-US" sz="900" dirty="0"/>
          </a:p>
        </p:txBody>
      </p:sp>
      <p:sp>
        <p:nvSpPr>
          <p:cNvPr id="13" name="Text 9"/>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14" name="Text 10"/>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Yönetim Paneli (devam)</a:t>
            </a:r>
            <a:endParaRPr lang="en-US" sz="2800" dirty="0"/>
          </a:p>
        </p:txBody>
      </p:sp>
      <p:sp>
        <p:nvSpPr>
          <p:cNvPr id="3" name="Text 1"/>
          <p:cNvSpPr txBox="1"/>
          <p:nvPr/>
        </p:nvSpPr>
        <p:spPr>
          <a:xfrm>
            <a:off x="548640" y="850392"/>
            <a:ext cx="804672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Katalog yönetimi ve denetim</a:t>
            </a:r>
            <a:endParaRPr lang="en-US" sz="1300" dirty="0"/>
          </a:p>
        </p:txBody>
      </p:sp>
      <p:pic>
        <p:nvPicPr>
          <p:cNvPr id="4" name="Image 0" descr="/tmp/claude-0/scratch/shots/7-kategori.png">    </p:cNvPr>
          <p:cNvPicPr>
            <a:picLocks noChangeAspect="1"/>
          </p:cNvPicPr>
          <p:nvPr/>
        </p:nvPicPr>
        <p:blipFill>
          <a:blip r:embed="rId1"/>
          <a:srcRect l="0" r="0" t="0" b="0"/>
          <a:stretch/>
        </p:blipFill>
        <p:spPr>
          <a:xfrm>
            <a:off x="548640" y="1325880"/>
            <a:ext cx="3977640" cy="2240280"/>
          </a:xfrm>
          <a:prstGeom prst="rect">
            <a:avLst/>
          </a:prstGeom>
        </p:spPr>
      </p:pic>
      <p:sp>
        <p:nvSpPr>
          <p:cNvPr id="5" name="Shape 2"/>
          <p:cNvSpPr/>
          <p:nvPr/>
        </p:nvSpPr>
        <p:spPr>
          <a:xfrm>
            <a:off x="548640" y="1325880"/>
            <a:ext cx="3977640" cy="2240280"/>
          </a:xfrm>
          <a:prstGeom prst="rect">
            <a:avLst/>
          </a:prstGeom>
          <a:solidFill>
            <a:srgbClr val="FFFFFF">
              <a:alpha val="0"/>
            </a:srgbClr>
          </a:solidFill>
          <a:ln w="12700">
            <a:solidFill>
              <a:srgbClr val="E5E7EB"/>
            </a:solidFill>
            <a:prstDash val="solid"/>
          </a:ln>
        </p:spPr>
      </p:sp>
      <p:sp>
        <p:nvSpPr>
          <p:cNvPr id="6" name="Text 3"/>
          <p:cNvSpPr txBox="1"/>
          <p:nvPr/>
        </p:nvSpPr>
        <p:spPr>
          <a:xfrm>
            <a:off x="54864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Kategori ve yazarlar</a:t>
            </a:r>
            <a:endParaRPr lang="en-US" sz="1400" dirty="0"/>
          </a:p>
        </p:txBody>
      </p:sp>
      <p:sp>
        <p:nvSpPr>
          <p:cNvPr id="7" name="Text 4"/>
          <p:cNvSpPr txBox="1"/>
          <p:nvPr/>
        </p:nvSpPr>
        <p:spPr>
          <a:xfrm>
            <a:off x="54864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Ekleme, yeniden adlandırma ve silme; kitabı olan kayıt silinmeye çalışılırsa API 409 döner.</a:t>
            </a:r>
            <a:endParaRPr lang="en-US" sz="1200" dirty="0"/>
          </a:p>
        </p:txBody>
      </p:sp>
      <p:pic>
        <p:nvPicPr>
          <p:cNvPr id="8" name="Image 1" descr="/tmp/claude-0/scratch/shots/8-loglar.png">    </p:cNvPr>
          <p:cNvPicPr>
            <a:picLocks noChangeAspect="1"/>
          </p:cNvPicPr>
          <p:nvPr/>
        </p:nvPicPr>
        <p:blipFill>
          <a:blip r:embed="rId2"/>
          <a:srcRect l="0" r="0" t="0" b="0"/>
          <a:stretch/>
        </p:blipFill>
        <p:spPr>
          <a:xfrm>
            <a:off x="4617720" y="1325880"/>
            <a:ext cx="3977640" cy="2240280"/>
          </a:xfrm>
          <a:prstGeom prst="rect">
            <a:avLst/>
          </a:prstGeom>
        </p:spPr>
      </p:pic>
      <p:sp>
        <p:nvSpPr>
          <p:cNvPr id="9" name="Shape 5"/>
          <p:cNvSpPr/>
          <p:nvPr/>
        </p:nvSpPr>
        <p:spPr>
          <a:xfrm>
            <a:off x="4617720" y="1325880"/>
            <a:ext cx="3977640" cy="2240280"/>
          </a:xfrm>
          <a:prstGeom prst="rect">
            <a:avLst/>
          </a:prstGeom>
          <a:solidFill>
            <a:srgbClr val="FFFFFF">
              <a:alpha val="0"/>
            </a:srgbClr>
          </a:solidFill>
          <a:ln w="12700">
            <a:solidFill>
              <a:srgbClr val="E5E7EB"/>
            </a:solidFill>
            <a:prstDash val="solid"/>
          </a:ln>
        </p:spPr>
      </p:sp>
      <p:sp>
        <p:nvSpPr>
          <p:cNvPr id="10" name="Text 6"/>
          <p:cNvSpPr txBox="1"/>
          <p:nvPr/>
        </p:nvSpPr>
        <p:spPr>
          <a:xfrm>
            <a:off x="4617720" y="3675888"/>
            <a:ext cx="3977640" cy="27432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İşlem kayıtları</a:t>
            </a:r>
            <a:endParaRPr lang="en-US" sz="1400" dirty="0"/>
          </a:p>
        </p:txBody>
      </p:sp>
      <p:sp>
        <p:nvSpPr>
          <p:cNvPr id="11" name="Text 7"/>
          <p:cNvSpPr txBox="1"/>
          <p:nvPr/>
        </p:nvSpPr>
        <p:spPr>
          <a:xfrm>
            <a:off x="4617720" y="3977640"/>
            <a:ext cx="3977640" cy="5486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Kimin, ne zaman, hangi kaydı eklediği, güncellediği veya sildiği listelenir ve filtrelenir.</a:t>
            </a:r>
            <a:endParaRPr lang="en-US" sz="1200" dirty="0"/>
          </a:p>
        </p:txBody>
      </p:sp>
      <p:sp>
        <p:nvSpPr>
          <p:cNvPr id="12" name="Text 8"/>
          <p:cNvSpPr txBox="1"/>
          <p:nvPr/>
        </p:nvSpPr>
        <p:spPr>
          <a:xfrm>
            <a:off x="4754880" y="4773168"/>
            <a:ext cx="329184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Ekran görüntüleri örnek kullanım verisiyle alınmıştır.</a:t>
            </a:r>
            <a:endParaRPr lang="en-US" sz="900" dirty="0"/>
          </a:p>
        </p:txBody>
      </p:sp>
      <p:sp>
        <p:nvSpPr>
          <p:cNvPr id="13" name="Text 9"/>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14" name="Text 10"/>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Test ve Doğrulama</a:t>
            </a:r>
            <a:endParaRPr lang="en-US" sz="2800" dirty="0"/>
          </a:p>
        </p:txBody>
      </p:sp>
      <p:sp>
        <p:nvSpPr>
          <p:cNvPr id="3" name="Shape 1"/>
          <p:cNvSpPr/>
          <p:nvPr/>
        </p:nvSpPr>
        <p:spPr>
          <a:xfrm>
            <a:off x="548640" y="1143000"/>
            <a:ext cx="3017520" cy="1554480"/>
          </a:xfrm>
          <a:prstGeom prst="roundRect">
            <a:avLst>
              <a:gd name="adj" fmla="val 7059"/>
            </a:avLst>
          </a:prstGeom>
          <a:solidFill>
            <a:srgbClr val="111114"/>
          </a:solidFill>
          <a:ln w="12700">
            <a:solidFill>
              <a:srgbClr val="111114"/>
            </a:solidFill>
            <a:prstDash val="solid"/>
          </a:ln>
        </p:spPr>
      </p:sp>
      <p:sp>
        <p:nvSpPr>
          <p:cNvPr id="4" name="Text 2"/>
          <p:cNvSpPr txBox="1"/>
          <p:nvPr/>
        </p:nvSpPr>
        <p:spPr>
          <a:xfrm>
            <a:off x="548640" y="1252728"/>
            <a:ext cx="3017520" cy="777240"/>
          </a:xfrm>
          <a:prstGeom prst="rect">
            <a:avLst/>
          </a:prstGeom>
          <a:noFill/>
          <a:ln/>
        </p:spPr>
        <p:txBody>
          <a:bodyPr wrap="square" lIns="0" tIns="0" rIns="0" bIns="0" rtlCol="0" anchor="ctr"/>
          <a:lstStyle/>
          <a:p>
            <a:pPr algn="ctr" indent="0" marL="0">
              <a:buNone/>
            </a:pPr>
            <a:r>
              <a:rPr lang="en-US" sz="5000" b="1" dirty="0">
                <a:solidFill>
                  <a:srgbClr val="F26A00"/>
                </a:solidFill>
                <a:latin typeface="Cambria" pitchFamily="34" charset="0"/>
                <a:ea typeface="Cambria" pitchFamily="34" charset="-122"/>
                <a:cs typeface="Cambria" pitchFamily="34" charset="-120"/>
              </a:rPr>
              <a:t>46</a:t>
            </a:r>
            <a:endParaRPr lang="en-US" sz="5000" dirty="0"/>
          </a:p>
        </p:txBody>
      </p:sp>
      <p:sp>
        <p:nvSpPr>
          <p:cNvPr id="5" name="Text 3"/>
          <p:cNvSpPr txBox="1"/>
          <p:nvPr/>
        </p:nvSpPr>
        <p:spPr>
          <a:xfrm>
            <a:off x="548640" y="2011680"/>
            <a:ext cx="3017520" cy="5943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backend testi</a:t>
            </a:r>
            <a:endParaRPr lang="en-US" sz="1400" dirty="0"/>
          </a:p>
          <a:p>
            <a:pPr algn="ctr" indent="0" marL="0">
              <a:buNone/>
            </a:pPr>
            <a:r>
              <a:rPr lang="en-US" sz="1100" dirty="0">
                <a:solidFill>
                  <a:srgbClr val="9CA3AF"/>
                </a:solidFill>
                <a:latin typeface="Calibri" pitchFamily="34" charset="0"/>
                <a:ea typeface="Calibri" pitchFamily="34" charset="-122"/>
                <a:cs typeface="Calibri" pitchFamily="34" charset="-120"/>
              </a:rPr>
              <a:t>PHPUnit, gerçek iş kuralları</a:t>
            </a:r>
            <a:endParaRPr lang="en-US" sz="1400" dirty="0"/>
          </a:p>
        </p:txBody>
      </p:sp>
      <p:sp>
        <p:nvSpPr>
          <p:cNvPr id="6" name="Shape 4"/>
          <p:cNvSpPr/>
          <p:nvPr/>
        </p:nvSpPr>
        <p:spPr>
          <a:xfrm>
            <a:off x="548640" y="2880360"/>
            <a:ext cx="3017520" cy="1554480"/>
          </a:xfrm>
          <a:prstGeom prst="roundRect">
            <a:avLst>
              <a:gd name="adj" fmla="val 7059"/>
            </a:avLst>
          </a:prstGeom>
          <a:solidFill>
            <a:srgbClr val="111114"/>
          </a:solidFill>
          <a:ln w="12700">
            <a:solidFill>
              <a:srgbClr val="111114"/>
            </a:solidFill>
            <a:prstDash val="solid"/>
          </a:ln>
        </p:spPr>
      </p:sp>
      <p:sp>
        <p:nvSpPr>
          <p:cNvPr id="7" name="Text 5"/>
          <p:cNvSpPr txBox="1"/>
          <p:nvPr/>
        </p:nvSpPr>
        <p:spPr>
          <a:xfrm>
            <a:off x="548640" y="2990088"/>
            <a:ext cx="3017520" cy="777240"/>
          </a:xfrm>
          <a:prstGeom prst="rect">
            <a:avLst/>
          </a:prstGeom>
          <a:noFill/>
          <a:ln/>
        </p:spPr>
        <p:txBody>
          <a:bodyPr wrap="square" lIns="0" tIns="0" rIns="0" bIns="0" rtlCol="0" anchor="ctr"/>
          <a:lstStyle/>
          <a:p>
            <a:pPr algn="ctr" indent="0" marL="0">
              <a:buNone/>
            </a:pPr>
            <a:r>
              <a:rPr lang="en-US" sz="5000" b="1" dirty="0">
                <a:solidFill>
                  <a:srgbClr val="F26A00"/>
                </a:solidFill>
                <a:latin typeface="Cambria" pitchFamily="34" charset="0"/>
                <a:ea typeface="Cambria" pitchFamily="34" charset="-122"/>
                <a:cs typeface="Cambria" pitchFamily="34" charset="-120"/>
              </a:rPr>
              <a:t>38</a:t>
            </a:r>
            <a:endParaRPr lang="en-US" sz="5000" dirty="0"/>
          </a:p>
        </p:txBody>
      </p:sp>
      <p:sp>
        <p:nvSpPr>
          <p:cNvPr id="8" name="Text 6"/>
          <p:cNvSpPr txBox="1"/>
          <p:nvPr/>
        </p:nvSpPr>
        <p:spPr>
          <a:xfrm>
            <a:off x="548640" y="3749040"/>
            <a:ext cx="3017520" cy="5943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tarayıcı senaryosu</a:t>
            </a:r>
            <a:endParaRPr lang="en-US" sz="1400" dirty="0"/>
          </a:p>
          <a:p>
            <a:pPr algn="ctr" indent="0" marL="0">
              <a:buNone/>
            </a:pPr>
            <a:r>
              <a:rPr lang="en-US" sz="1100" dirty="0">
                <a:solidFill>
                  <a:srgbClr val="9CA3AF"/>
                </a:solidFill>
                <a:latin typeface="Calibri" pitchFamily="34" charset="0"/>
                <a:ea typeface="Calibri" pitchFamily="34" charset="-122"/>
                <a:cs typeface="Calibri" pitchFamily="34" charset="-120"/>
              </a:rPr>
              <a:t>uçtan uca, gerçek MySQL</a:t>
            </a:r>
            <a:endParaRPr lang="en-US" sz="1400" dirty="0"/>
          </a:p>
        </p:txBody>
      </p:sp>
      <p:sp>
        <p:nvSpPr>
          <p:cNvPr id="9" name="Text 7"/>
          <p:cNvSpPr txBox="1"/>
          <p:nvPr/>
        </p:nvSpPr>
        <p:spPr>
          <a:xfrm>
            <a:off x="4023360" y="1143000"/>
            <a:ext cx="4572000" cy="32004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Doğrulanan davranışlar</a:t>
            </a:r>
            <a:endParaRPr lang="en-US" sz="1600" dirty="0"/>
          </a:p>
        </p:txBody>
      </p:sp>
      <p:sp>
        <p:nvSpPr>
          <p:cNvPr id="10" name="Text 8"/>
          <p:cNvSpPr txBox="1"/>
          <p:nvPr/>
        </p:nvSpPr>
        <p:spPr>
          <a:xfrm>
            <a:off x="4023360" y="1554480"/>
            <a:ext cx="4572000" cy="30175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Kayıt, giriş, çıkış; hatalı şifrede 401</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Müşterinin yönetici uçlarına erişememesi (403)</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Sipariş: fiyatın sunucuda hesaplanması, stok düşümü</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Yetersiz stokta 409 ve işlemin geri alınması</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İptalde stok iadesi, geçersiz durum geçişi</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Soft delete ve sipariş geçmişinin korunması</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Kitap, kategori, kullanıcı, yorum CRUD işlemleri</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Raporların gerçek siparişlerden hesaplanması</a:t>
            </a:r>
            <a:endParaRPr lang="en-US" sz="1350" dirty="0"/>
          </a:p>
        </p:txBody>
      </p:sp>
      <p:sp>
        <p:nvSpPr>
          <p:cNvPr id="11" name="Text 9"/>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12" name="Text 10"/>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Proje Şartlarına Uyum</a:t>
            </a:r>
            <a:endParaRPr lang="en-US" sz="2800" dirty="0"/>
          </a:p>
        </p:txBody>
      </p:sp>
      <p:sp>
        <p:nvSpPr>
          <p:cNvPr id="3" name="Shape 1"/>
          <p:cNvSpPr/>
          <p:nvPr/>
        </p:nvSpPr>
        <p:spPr>
          <a:xfrm>
            <a:off x="548640" y="1124712"/>
            <a:ext cx="329184" cy="329184"/>
          </a:xfrm>
          <a:prstGeom prst="ellipse">
            <a:avLst/>
          </a:prstGeom>
          <a:solidFill>
            <a:srgbClr val="F26A00"/>
          </a:solidFill>
          <a:ln w="12700">
            <a:solidFill>
              <a:srgbClr val="F26A00"/>
            </a:solidFill>
            <a:prstDash val="solid"/>
          </a:ln>
        </p:spPr>
      </p:sp>
      <p:pic>
        <p:nvPicPr>
          <p:cNvPr id="4" name="Image 0" descr="preencoded.png">    </p:cNvPr>
          <p:cNvPicPr>
            <a:picLocks noChangeAspect="1"/>
          </p:cNvPicPr>
          <p:nvPr/>
        </p:nvPicPr>
        <p:blipFill>
          <a:blip r:embed="rId1"/>
          <a:stretch>
            <a:fillRect/>
          </a:stretch>
        </p:blipFill>
        <p:spPr>
          <a:xfrm>
            <a:off x="630936" y="1207008"/>
            <a:ext cx="164592" cy="164592"/>
          </a:xfrm>
          <a:prstGeom prst="rect">
            <a:avLst/>
          </a:prstGeom>
        </p:spPr>
      </p:pic>
      <p:sp>
        <p:nvSpPr>
          <p:cNvPr id="5" name="Text 2"/>
          <p:cNvSpPr txBox="1"/>
          <p:nvPr/>
        </p:nvSpPr>
        <p:spPr>
          <a:xfrm>
            <a:off x="1005840" y="1097280"/>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Backend REST API ve CRUD işlemleri</a:t>
            </a:r>
            <a:endParaRPr lang="en-US" sz="1350" dirty="0"/>
          </a:p>
        </p:txBody>
      </p:sp>
      <p:sp>
        <p:nvSpPr>
          <p:cNvPr id="6" name="Shape 3"/>
          <p:cNvSpPr/>
          <p:nvPr/>
        </p:nvSpPr>
        <p:spPr>
          <a:xfrm>
            <a:off x="548640" y="1700784"/>
            <a:ext cx="329184" cy="329184"/>
          </a:xfrm>
          <a:prstGeom prst="ellipse">
            <a:avLst/>
          </a:prstGeom>
          <a:solidFill>
            <a:srgbClr val="F26A00"/>
          </a:solidFill>
          <a:ln w="12700">
            <a:solidFill>
              <a:srgbClr val="F26A00"/>
            </a:solidFill>
            <a:prstDash val="solid"/>
          </a:ln>
        </p:spPr>
      </p:sp>
      <p:pic>
        <p:nvPicPr>
          <p:cNvPr id="7" name="Image 1" descr="preencoded.png">    </p:cNvPr>
          <p:cNvPicPr>
            <a:picLocks noChangeAspect="1"/>
          </p:cNvPicPr>
          <p:nvPr/>
        </p:nvPicPr>
        <p:blipFill>
          <a:blip r:embed="rId2"/>
          <a:stretch>
            <a:fillRect/>
          </a:stretch>
        </p:blipFill>
        <p:spPr>
          <a:xfrm>
            <a:off x="630936" y="1783080"/>
            <a:ext cx="164592" cy="164592"/>
          </a:xfrm>
          <a:prstGeom prst="rect">
            <a:avLst/>
          </a:prstGeom>
        </p:spPr>
      </p:pic>
      <p:sp>
        <p:nvSpPr>
          <p:cNvPr id="8" name="Text 4"/>
          <p:cNvSpPr txBox="1"/>
          <p:nvPr/>
        </p:nvSpPr>
        <p:spPr>
          <a:xfrm>
            <a:off x="1005840" y="1673352"/>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MySQL veritabanı, 9 tablo (en az 5)</a:t>
            </a:r>
            <a:endParaRPr lang="en-US" sz="1350" dirty="0"/>
          </a:p>
        </p:txBody>
      </p:sp>
      <p:sp>
        <p:nvSpPr>
          <p:cNvPr id="9" name="Shape 5"/>
          <p:cNvSpPr/>
          <p:nvPr/>
        </p:nvSpPr>
        <p:spPr>
          <a:xfrm>
            <a:off x="548640" y="2276856"/>
            <a:ext cx="329184" cy="329184"/>
          </a:xfrm>
          <a:prstGeom prst="ellipse">
            <a:avLst/>
          </a:prstGeom>
          <a:solidFill>
            <a:srgbClr val="F26A00"/>
          </a:solidFill>
          <a:ln w="12700">
            <a:solidFill>
              <a:srgbClr val="F26A00"/>
            </a:solidFill>
            <a:prstDash val="solid"/>
          </a:ln>
        </p:spPr>
      </p:sp>
      <p:pic>
        <p:nvPicPr>
          <p:cNvPr id="10" name="Image 2" descr="preencoded.png">    </p:cNvPr>
          <p:cNvPicPr>
            <a:picLocks noChangeAspect="1"/>
          </p:cNvPicPr>
          <p:nvPr/>
        </p:nvPicPr>
        <p:blipFill>
          <a:blip r:embed="rId3"/>
          <a:stretch>
            <a:fillRect/>
          </a:stretch>
        </p:blipFill>
        <p:spPr>
          <a:xfrm>
            <a:off x="630936" y="2359152"/>
            <a:ext cx="164592" cy="164592"/>
          </a:xfrm>
          <a:prstGeom prst="rect">
            <a:avLst/>
          </a:prstGeom>
        </p:spPr>
      </p:pic>
      <p:sp>
        <p:nvSpPr>
          <p:cNvPr id="11" name="Text 6"/>
          <p:cNvSpPr txBox="1"/>
          <p:nvPr/>
        </p:nvSpPr>
        <p:spPr>
          <a:xfrm>
            <a:off x="1005840" y="2249424"/>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Uygun HTTP metotları ve durum kodları</a:t>
            </a:r>
            <a:endParaRPr lang="en-US" sz="1350" dirty="0"/>
          </a:p>
        </p:txBody>
      </p:sp>
      <p:sp>
        <p:nvSpPr>
          <p:cNvPr id="12" name="Shape 7"/>
          <p:cNvSpPr/>
          <p:nvPr/>
        </p:nvSpPr>
        <p:spPr>
          <a:xfrm>
            <a:off x="548640" y="2852928"/>
            <a:ext cx="329184" cy="329184"/>
          </a:xfrm>
          <a:prstGeom prst="ellipse">
            <a:avLst/>
          </a:prstGeom>
          <a:solidFill>
            <a:srgbClr val="F26A00"/>
          </a:solidFill>
          <a:ln w="12700">
            <a:solidFill>
              <a:srgbClr val="F26A00"/>
            </a:solidFill>
            <a:prstDash val="solid"/>
          </a:ln>
        </p:spPr>
      </p:sp>
      <p:pic>
        <p:nvPicPr>
          <p:cNvPr id="13" name="Image 3" descr="preencoded.png">    </p:cNvPr>
          <p:cNvPicPr>
            <a:picLocks noChangeAspect="1"/>
          </p:cNvPicPr>
          <p:nvPr/>
        </p:nvPicPr>
        <p:blipFill>
          <a:blip r:embed="rId4"/>
          <a:stretch>
            <a:fillRect/>
          </a:stretch>
        </p:blipFill>
        <p:spPr>
          <a:xfrm>
            <a:off x="630936" y="2935224"/>
            <a:ext cx="164592" cy="164592"/>
          </a:xfrm>
          <a:prstGeom prst="rect">
            <a:avLst/>
          </a:prstGeom>
        </p:spPr>
      </p:pic>
      <p:sp>
        <p:nvSpPr>
          <p:cNvPr id="14" name="Text 8"/>
          <p:cNvSpPr txBox="1"/>
          <p:nvPr/>
        </p:nvSpPr>
        <p:spPr>
          <a:xfrm>
            <a:off x="1005840" y="2825496"/>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Anlamlı hata mesajları</a:t>
            </a:r>
            <a:endParaRPr lang="en-US" sz="1350" dirty="0"/>
          </a:p>
        </p:txBody>
      </p:sp>
      <p:sp>
        <p:nvSpPr>
          <p:cNvPr id="15" name="Shape 9"/>
          <p:cNvSpPr/>
          <p:nvPr/>
        </p:nvSpPr>
        <p:spPr>
          <a:xfrm>
            <a:off x="548640" y="3429000"/>
            <a:ext cx="329184" cy="329184"/>
          </a:xfrm>
          <a:prstGeom prst="ellipse">
            <a:avLst/>
          </a:prstGeom>
          <a:solidFill>
            <a:srgbClr val="F26A00"/>
          </a:solidFill>
          <a:ln w="12700">
            <a:solidFill>
              <a:srgbClr val="F26A00"/>
            </a:solidFill>
            <a:prstDash val="solid"/>
          </a:ln>
        </p:spPr>
      </p:sp>
      <p:pic>
        <p:nvPicPr>
          <p:cNvPr id="16" name="Image 4" descr="preencoded.png">    </p:cNvPr>
          <p:cNvPicPr>
            <a:picLocks noChangeAspect="1"/>
          </p:cNvPicPr>
          <p:nvPr/>
        </p:nvPicPr>
        <p:blipFill>
          <a:blip r:embed="rId5"/>
          <a:stretch>
            <a:fillRect/>
          </a:stretch>
        </p:blipFill>
        <p:spPr>
          <a:xfrm>
            <a:off x="630936" y="3511296"/>
            <a:ext cx="164592" cy="164592"/>
          </a:xfrm>
          <a:prstGeom prst="rect">
            <a:avLst/>
          </a:prstGeom>
        </p:spPr>
      </p:pic>
      <p:sp>
        <p:nvSpPr>
          <p:cNvPr id="17" name="Text 10"/>
          <p:cNvSpPr txBox="1"/>
          <p:nvPr/>
        </p:nvSpPr>
        <p:spPr>
          <a:xfrm>
            <a:off x="1005840" y="3401568"/>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Kullanıcı kayıt ve giriş sistemi</a:t>
            </a:r>
            <a:endParaRPr lang="en-US" sz="1350" dirty="0"/>
          </a:p>
        </p:txBody>
      </p:sp>
      <p:sp>
        <p:nvSpPr>
          <p:cNvPr id="18" name="Shape 11"/>
          <p:cNvSpPr/>
          <p:nvPr/>
        </p:nvSpPr>
        <p:spPr>
          <a:xfrm>
            <a:off x="548640" y="4005072"/>
            <a:ext cx="329184" cy="329184"/>
          </a:xfrm>
          <a:prstGeom prst="ellipse">
            <a:avLst/>
          </a:prstGeom>
          <a:solidFill>
            <a:srgbClr val="F26A00"/>
          </a:solidFill>
          <a:ln w="12700">
            <a:solidFill>
              <a:srgbClr val="F26A00"/>
            </a:solidFill>
            <a:prstDash val="solid"/>
          </a:ln>
        </p:spPr>
      </p:sp>
      <p:pic>
        <p:nvPicPr>
          <p:cNvPr id="19" name="Image 5" descr="preencoded.png">    </p:cNvPr>
          <p:cNvPicPr>
            <a:picLocks noChangeAspect="1"/>
          </p:cNvPicPr>
          <p:nvPr/>
        </p:nvPicPr>
        <p:blipFill>
          <a:blip r:embed="rId6"/>
          <a:stretch>
            <a:fillRect/>
          </a:stretch>
        </p:blipFill>
        <p:spPr>
          <a:xfrm>
            <a:off x="630936" y="4087368"/>
            <a:ext cx="164592" cy="164592"/>
          </a:xfrm>
          <a:prstGeom prst="rect">
            <a:avLst/>
          </a:prstGeom>
        </p:spPr>
      </p:pic>
      <p:sp>
        <p:nvSpPr>
          <p:cNvPr id="20" name="Text 12"/>
          <p:cNvSpPr txBox="1"/>
          <p:nvPr/>
        </p:nvSpPr>
        <p:spPr>
          <a:xfrm>
            <a:off x="1005840" y="3977640"/>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Kimlik doğrulama ve yetkilendirme</a:t>
            </a:r>
            <a:endParaRPr lang="en-US" sz="1350" dirty="0"/>
          </a:p>
        </p:txBody>
      </p:sp>
      <p:sp>
        <p:nvSpPr>
          <p:cNvPr id="21" name="Shape 13"/>
          <p:cNvSpPr/>
          <p:nvPr/>
        </p:nvSpPr>
        <p:spPr>
          <a:xfrm>
            <a:off x="4663440" y="1124712"/>
            <a:ext cx="329184" cy="329184"/>
          </a:xfrm>
          <a:prstGeom prst="ellipse">
            <a:avLst/>
          </a:prstGeom>
          <a:solidFill>
            <a:srgbClr val="F26A00"/>
          </a:solidFill>
          <a:ln w="12700">
            <a:solidFill>
              <a:srgbClr val="F26A00"/>
            </a:solidFill>
            <a:prstDash val="solid"/>
          </a:ln>
        </p:spPr>
      </p:sp>
      <p:pic>
        <p:nvPicPr>
          <p:cNvPr id="22" name="Image 6" descr="preencoded.png">    </p:cNvPr>
          <p:cNvPicPr>
            <a:picLocks noChangeAspect="1"/>
          </p:cNvPicPr>
          <p:nvPr/>
        </p:nvPicPr>
        <p:blipFill>
          <a:blip r:embed="rId7"/>
          <a:stretch>
            <a:fillRect/>
          </a:stretch>
        </p:blipFill>
        <p:spPr>
          <a:xfrm>
            <a:off x="4745736" y="1207008"/>
            <a:ext cx="164592" cy="164592"/>
          </a:xfrm>
          <a:prstGeom prst="rect">
            <a:avLst/>
          </a:prstGeom>
        </p:spPr>
      </p:pic>
      <p:sp>
        <p:nvSpPr>
          <p:cNvPr id="23" name="Text 14"/>
          <p:cNvSpPr txBox="1"/>
          <p:nvPr/>
        </p:nvSpPr>
        <p:spPr>
          <a:xfrm>
            <a:off x="5120640" y="1097280"/>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Backend ve frontend ayrı geliştirildi</a:t>
            </a:r>
            <a:endParaRPr lang="en-US" sz="1350" dirty="0"/>
          </a:p>
        </p:txBody>
      </p:sp>
      <p:sp>
        <p:nvSpPr>
          <p:cNvPr id="24" name="Shape 15"/>
          <p:cNvSpPr/>
          <p:nvPr/>
        </p:nvSpPr>
        <p:spPr>
          <a:xfrm>
            <a:off x="4663440" y="1700784"/>
            <a:ext cx="329184" cy="329184"/>
          </a:xfrm>
          <a:prstGeom prst="ellipse">
            <a:avLst/>
          </a:prstGeom>
          <a:solidFill>
            <a:srgbClr val="F26A00"/>
          </a:solidFill>
          <a:ln w="12700">
            <a:solidFill>
              <a:srgbClr val="F26A00"/>
            </a:solidFill>
            <a:prstDash val="solid"/>
          </a:ln>
        </p:spPr>
      </p:sp>
      <p:pic>
        <p:nvPicPr>
          <p:cNvPr id="25" name="Image 7" descr="preencoded.png">    </p:cNvPr>
          <p:cNvPicPr>
            <a:picLocks noChangeAspect="1"/>
          </p:cNvPicPr>
          <p:nvPr/>
        </p:nvPicPr>
        <p:blipFill>
          <a:blip r:embed="rId8"/>
          <a:stretch>
            <a:fillRect/>
          </a:stretch>
        </p:blipFill>
        <p:spPr>
          <a:xfrm>
            <a:off x="4745736" y="1783080"/>
            <a:ext cx="164592" cy="164592"/>
          </a:xfrm>
          <a:prstGeom prst="rect">
            <a:avLst/>
          </a:prstGeom>
        </p:spPr>
      </p:pic>
      <p:sp>
        <p:nvSpPr>
          <p:cNvPr id="26" name="Text 16"/>
          <p:cNvSpPr txBox="1"/>
          <p:nvPr/>
        </p:nvSpPr>
        <p:spPr>
          <a:xfrm>
            <a:off x="5120640" y="1673352"/>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Frontend'den ekleme, güncelleme, silme</a:t>
            </a:r>
            <a:endParaRPr lang="en-US" sz="1350" dirty="0"/>
          </a:p>
        </p:txBody>
      </p:sp>
      <p:sp>
        <p:nvSpPr>
          <p:cNvPr id="27" name="Shape 17"/>
          <p:cNvSpPr/>
          <p:nvPr/>
        </p:nvSpPr>
        <p:spPr>
          <a:xfrm>
            <a:off x="4663440" y="2276856"/>
            <a:ext cx="329184" cy="329184"/>
          </a:xfrm>
          <a:prstGeom prst="ellipse">
            <a:avLst/>
          </a:prstGeom>
          <a:solidFill>
            <a:srgbClr val="F26A00"/>
          </a:solidFill>
          <a:ln w="12700">
            <a:solidFill>
              <a:srgbClr val="F26A00"/>
            </a:solidFill>
            <a:prstDash val="solid"/>
          </a:ln>
        </p:spPr>
      </p:sp>
      <p:pic>
        <p:nvPicPr>
          <p:cNvPr id="28" name="Image 8" descr="preencoded.png">    </p:cNvPr>
          <p:cNvPicPr>
            <a:picLocks noChangeAspect="1"/>
          </p:cNvPicPr>
          <p:nvPr/>
        </p:nvPicPr>
        <p:blipFill>
          <a:blip r:embed="rId9"/>
          <a:stretch>
            <a:fillRect/>
          </a:stretch>
        </p:blipFill>
        <p:spPr>
          <a:xfrm>
            <a:off x="4745736" y="2359152"/>
            <a:ext cx="164592" cy="164592"/>
          </a:xfrm>
          <a:prstGeom prst="rect">
            <a:avLst/>
          </a:prstGeom>
        </p:spPr>
      </p:pic>
      <p:sp>
        <p:nvSpPr>
          <p:cNvPr id="29" name="Text 18"/>
          <p:cNvSpPr txBox="1"/>
          <p:nvPr/>
        </p:nvSpPr>
        <p:spPr>
          <a:xfrm>
            <a:off x="5120640" y="2249424"/>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API hataları kullanıcıya gösterilir</a:t>
            </a:r>
            <a:endParaRPr lang="en-US" sz="1350" dirty="0"/>
          </a:p>
        </p:txBody>
      </p:sp>
      <p:sp>
        <p:nvSpPr>
          <p:cNvPr id="30" name="Shape 19"/>
          <p:cNvSpPr/>
          <p:nvPr/>
        </p:nvSpPr>
        <p:spPr>
          <a:xfrm>
            <a:off x="4663440" y="2852928"/>
            <a:ext cx="329184" cy="329184"/>
          </a:xfrm>
          <a:prstGeom prst="ellipse">
            <a:avLst/>
          </a:prstGeom>
          <a:solidFill>
            <a:srgbClr val="F26A00"/>
          </a:solidFill>
          <a:ln w="12700">
            <a:solidFill>
              <a:srgbClr val="F26A00"/>
            </a:solidFill>
            <a:prstDash val="solid"/>
          </a:ln>
        </p:spPr>
      </p:sp>
      <p:pic>
        <p:nvPicPr>
          <p:cNvPr id="31" name="Image 9" descr="preencoded.png">    </p:cNvPr>
          <p:cNvPicPr>
            <a:picLocks noChangeAspect="1"/>
          </p:cNvPicPr>
          <p:nvPr/>
        </p:nvPicPr>
        <p:blipFill>
          <a:blip r:embed="rId10"/>
          <a:stretch>
            <a:fillRect/>
          </a:stretch>
        </p:blipFill>
        <p:spPr>
          <a:xfrm>
            <a:off x="4745736" y="2935224"/>
            <a:ext cx="164592" cy="164592"/>
          </a:xfrm>
          <a:prstGeom prst="rect">
            <a:avLst/>
          </a:prstGeom>
        </p:spPr>
      </p:pic>
      <p:sp>
        <p:nvSpPr>
          <p:cNvPr id="32" name="Text 20"/>
          <p:cNvSpPr txBox="1"/>
          <p:nvPr/>
        </p:nvSpPr>
        <p:spPr>
          <a:xfrm>
            <a:off x="5120640" y="2825496"/>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Kullanıcı oturumu yönetimi (token)</a:t>
            </a:r>
            <a:endParaRPr lang="en-US" sz="1350" dirty="0"/>
          </a:p>
        </p:txBody>
      </p:sp>
      <p:sp>
        <p:nvSpPr>
          <p:cNvPr id="33" name="Shape 21"/>
          <p:cNvSpPr/>
          <p:nvPr/>
        </p:nvSpPr>
        <p:spPr>
          <a:xfrm>
            <a:off x="4663440" y="3429000"/>
            <a:ext cx="329184" cy="329184"/>
          </a:xfrm>
          <a:prstGeom prst="ellipse">
            <a:avLst/>
          </a:prstGeom>
          <a:solidFill>
            <a:srgbClr val="F26A00"/>
          </a:solidFill>
          <a:ln w="12700">
            <a:solidFill>
              <a:srgbClr val="F26A00"/>
            </a:solidFill>
            <a:prstDash val="solid"/>
          </a:ln>
        </p:spPr>
      </p:sp>
      <p:pic>
        <p:nvPicPr>
          <p:cNvPr id="34" name="Image 10" descr="preencoded.png">    </p:cNvPr>
          <p:cNvPicPr>
            <a:picLocks noChangeAspect="1"/>
          </p:cNvPicPr>
          <p:nvPr/>
        </p:nvPicPr>
        <p:blipFill>
          <a:blip r:embed="rId11"/>
          <a:stretch>
            <a:fillRect/>
          </a:stretch>
        </p:blipFill>
        <p:spPr>
          <a:xfrm>
            <a:off x="4745736" y="3511296"/>
            <a:ext cx="164592" cy="164592"/>
          </a:xfrm>
          <a:prstGeom prst="rect">
            <a:avLst/>
          </a:prstGeom>
        </p:spPr>
      </p:pic>
      <p:sp>
        <p:nvSpPr>
          <p:cNvPr id="35" name="Text 22"/>
          <p:cNvSpPr txBox="1"/>
          <p:nvPr/>
        </p:nvSpPr>
        <p:spPr>
          <a:xfrm>
            <a:off x="5120640" y="3401568"/>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Veriler MySQL'de kalıcı</a:t>
            </a:r>
            <a:endParaRPr lang="en-US" sz="1350" dirty="0"/>
          </a:p>
        </p:txBody>
      </p:sp>
      <p:sp>
        <p:nvSpPr>
          <p:cNvPr id="36" name="Shape 23"/>
          <p:cNvSpPr/>
          <p:nvPr/>
        </p:nvSpPr>
        <p:spPr>
          <a:xfrm>
            <a:off x="4663440" y="4005072"/>
            <a:ext cx="329184" cy="329184"/>
          </a:xfrm>
          <a:prstGeom prst="ellipse">
            <a:avLst/>
          </a:prstGeom>
          <a:solidFill>
            <a:srgbClr val="F26A00"/>
          </a:solidFill>
          <a:ln w="12700">
            <a:solidFill>
              <a:srgbClr val="F26A00"/>
            </a:solidFill>
            <a:prstDash val="solid"/>
          </a:ln>
        </p:spPr>
      </p:sp>
      <p:pic>
        <p:nvPicPr>
          <p:cNvPr id="37" name="Image 11" descr="preencoded.png">    </p:cNvPr>
          <p:cNvPicPr>
            <a:picLocks noChangeAspect="1"/>
          </p:cNvPicPr>
          <p:nvPr/>
        </p:nvPicPr>
        <p:blipFill>
          <a:blip r:embed="rId12"/>
          <a:stretch>
            <a:fillRect/>
          </a:stretch>
        </p:blipFill>
        <p:spPr>
          <a:xfrm>
            <a:off x="4745736" y="4087368"/>
            <a:ext cx="164592" cy="164592"/>
          </a:xfrm>
          <a:prstGeom prst="rect">
            <a:avLst/>
          </a:prstGeom>
        </p:spPr>
      </p:pic>
      <p:sp>
        <p:nvSpPr>
          <p:cNvPr id="38" name="Text 24"/>
          <p:cNvSpPr txBox="1"/>
          <p:nvPr/>
        </p:nvSpPr>
        <p:spPr>
          <a:xfrm>
            <a:off x="5120640" y="3977640"/>
            <a:ext cx="3474720" cy="384048"/>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Tüm işlevler çalışır durumda</a:t>
            </a:r>
            <a:endParaRPr lang="en-US" sz="1350" dirty="0"/>
          </a:p>
        </p:txBody>
      </p:sp>
      <p:sp>
        <p:nvSpPr>
          <p:cNvPr id="39" name="Text 25"/>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BookFlow · Web Tabanlı Teknolojiler</a:t>
            </a:r>
            <a:endParaRPr lang="en-US" sz="900" dirty="0"/>
          </a:p>
        </p:txBody>
      </p:sp>
      <p:sp>
        <p:nvSpPr>
          <p:cNvPr id="40" name="Text 26"/>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4"/>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8686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Teşekkürler</a:t>
            </a:r>
            <a:endParaRPr lang="en-US" sz="5200" dirty="0"/>
          </a:p>
        </p:txBody>
      </p:sp>
      <p:sp>
        <p:nvSpPr>
          <p:cNvPr id="3" name="Text 1"/>
          <p:cNvSpPr txBox="1"/>
          <p:nvPr/>
        </p:nvSpPr>
        <p:spPr>
          <a:xfrm>
            <a:off x="640080" y="2331720"/>
            <a:ext cx="7863840" cy="457200"/>
          </a:xfrm>
          <a:prstGeom prst="rect">
            <a:avLst/>
          </a:prstGeom>
          <a:noFill/>
          <a:ln/>
        </p:spPr>
        <p:txBody>
          <a:bodyPr wrap="square" lIns="0" tIns="0" rIns="0" bIns="0" rtlCol="0" anchor="ctr"/>
          <a:lstStyle/>
          <a:p>
            <a:pPr indent="0" marL="0">
              <a:buNone/>
            </a:pPr>
            <a:r>
              <a:rPr lang="en-US" sz="2000" dirty="0">
                <a:solidFill>
                  <a:srgbClr val="F26A00"/>
                </a:solidFill>
                <a:latin typeface="Calibri" pitchFamily="34" charset="0"/>
                <a:ea typeface="Calibri" pitchFamily="34" charset="-122"/>
                <a:cs typeface="Calibri" pitchFamily="34" charset="-120"/>
              </a:rPr>
              <a:t>Sorularınız için hazırım</a:t>
            </a:r>
            <a:endParaRPr lang="en-US" sz="2000" dirty="0"/>
          </a:p>
        </p:txBody>
      </p:sp>
      <p:sp>
        <p:nvSpPr>
          <p:cNvPr id="4" name="Text 2"/>
          <p:cNvSpPr txBox="1"/>
          <p:nvPr/>
        </p:nvSpPr>
        <p:spPr>
          <a:xfrm>
            <a:off x="640080" y="3017520"/>
            <a:ext cx="7863840" cy="365760"/>
          </a:xfrm>
          <a:prstGeom prst="rect">
            <a:avLst/>
          </a:prstGeom>
          <a:noFill/>
          <a:ln/>
        </p:spPr>
        <p:txBody>
          <a:bodyPr wrap="square" lIns="0" tIns="0" rIns="0" bIns="0" rtlCol="0" anchor="ctr"/>
          <a:lstStyle/>
          <a:p>
            <a:pPr indent="0" marL="0">
              <a:buNone/>
            </a:pPr>
            <a:r>
              <a:rPr lang="en-US" sz="1400" dirty="0">
                <a:solidFill>
                  <a:srgbClr val="9CA3AF"/>
                </a:solidFill>
                <a:latin typeface="Calibri" pitchFamily="34" charset="0"/>
                <a:ea typeface="Calibri" pitchFamily="34" charset="-122"/>
                <a:cs typeface="Calibri" pitchFamily="34" charset="-120"/>
              </a:rPr>
              <a:t>BookFlow · React · Laravel · MySQL</a:t>
            </a:r>
            <a:endParaRPr lang="en-US" sz="1400" dirty="0"/>
          </a:p>
        </p:txBody>
      </p:sp>
      <p:sp>
        <p:nvSpPr>
          <p:cNvPr id="5" name="Text 3"/>
          <p:cNvSpPr txBox="1"/>
          <p:nvPr/>
        </p:nvSpPr>
        <p:spPr>
          <a:xfrm>
            <a:off x="640080" y="4114800"/>
            <a:ext cx="786384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github.com/okutaybozkurt/bookflow-management-system</a:t>
            </a:r>
            <a:endParaRPr lang="en-US" sz="1300" dirty="0"/>
          </a:p>
        </p:txBody>
      </p:sp>
      <p:sp>
        <p:nvSpPr>
          <p:cNvPr id="6" name="Text 4"/>
          <p:cNvSpPr txBox="1"/>
          <p:nvPr/>
        </p:nvSpPr>
        <p:spPr>
          <a:xfrm>
            <a:off x="548640" y="4773168"/>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BookFlow · Web Tabanlı Teknolojiler</a:t>
            </a:r>
            <a:endParaRPr lang="en-US" sz="900" dirty="0"/>
          </a:p>
        </p:txBody>
      </p:sp>
      <p:sp>
        <p:nvSpPr>
          <p:cNvPr id="7" name="Text 5"/>
          <p:cNvSpPr txBox="1"/>
          <p:nvPr/>
        </p:nvSpPr>
        <p:spPr>
          <a:xfrm>
            <a:off x="8138160" y="4773168"/>
            <a:ext cx="4572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BookFlow – Dönem Sonu Projesi Sunumu</dc:title>
  <dc:subject>PptxGenJS Presentation</dc:subject>
  <dc:creator>Orhan Kutay Bozkurt</dc:creator>
  <cp:lastModifiedBy>Orhan Kutay Bozkurt</cp:lastModifiedBy>
  <cp:revision>1</cp:revision>
  <dcterms:created xsi:type="dcterms:W3CDTF">2026-09-29T17:11:47Z</dcterms:created>
  <dcterms:modified xsi:type="dcterms:W3CDTF">2026-09-29T17:11:47Z</dcterms:modified>
</cp:coreProperties>
</file>